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98" y="5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8EE23-A92B-0A9C-4FB3-5375509EC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325571-2154-3A6A-3F37-4032293E8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FA6FE7-CCE4-0379-FDF2-A2E1F7E1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0403E5-5758-6C0D-D3CC-E4E2035C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17481-3335-7A9E-35CE-8A15BEA4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619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FB1A0-B21B-C92D-1B74-04302DBF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E241A-B4DC-3EB6-012D-C07966BC9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CBF8D1-29F8-35B0-0C15-25C89C4D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B87A9C-3168-CC50-7CA4-14D2A04F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7E594-227B-C2DF-FAD2-6E68214E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67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52A0A-B46A-B95E-8DAC-50D21275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BA957E-519F-AA0E-4696-51EF53B5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3AC6C-7D52-E4D8-127C-935C2A39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5356E-1C0A-ED47-3982-865A9E96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D8FFA-24AB-2D5C-653D-3413CC20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9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3680E-EAE4-5C5B-AB0D-F83B7318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546260-69B9-DF04-18F1-2A102231C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90F356-E515-075A-F172-C607CD213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D0B755-B558-1D96-D75B-6A9F89F3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9DEA19-D055-197C-B1CB-A105E4E7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AA10F4-242F-C31F-CFB0-F090A14A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97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043AE-D51A-194F-BC4C-939E1C1B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A8183-C76B-97B8-0AB5-B19F9895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DD702-B4C0-5CC2-1FA0-195D70DD5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03C3AC-6EE5-2F4D-92B9-87993D192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4D58B3-1666-B861-80A5-5ADDC8F7C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224BD1-1DCC-DE35-25BB-73AE73E8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5F1CF4-5172-8FB9-5FDF-91E0C1F2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D5F4AA-5CF6-4438-F950-A8626BA1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9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315A3-294A-15AF-E213-0E1442A2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F64870-1FB8-43E8-FAAE-FF26A78B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CE363B-CB0F-FEA6-9994-1A058656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EFACF6-6C88-5289-71F6-67363647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85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4BF978-F0BB-3C09-1D29-BA818F5CF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DD4A22-9C8E-9F3A-CF7D-D06C287B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F9D99-0C0D-EED5-BE18-31DA82BD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02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8F3CA-5384-FFEE-CD01-7FC3F199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5B81DD-8C54-E35F-9F7C-782A3834A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3AB925-DE59-CE87-1514-5F4C457D4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3DD019-AF52-537E-A9E8-A2C73270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D9054E-D075-7675-495F-D65B4F12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D28AF-4B3B-B941-F32E-F6C1EDC4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04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48FD2-9663-BB5B-FC7F-84735718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8F4E10-EBF5-8335-6E75-3D788201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1346AB-BCF0-39E0-9A1D-8E367AE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486516-3D00-8D2C-9D98-03B4D912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67F41-D85D-7EE3-E244-662AD306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128F6C-E15D-3FBF-88B5-7ED260D0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9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4882A-0ECC-476F-95E5-7FAF2BDB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FD9436-F037-89D3-83DF-6B5C04E21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7351EB-3B65-1413-0C26-524631D4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BD1051-A0BF-3815-C5A1-08264796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21DAB-129C-FCA7-58CD-D958B176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52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BE41A9-FFDE-807C-DD03-F89A55CC4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F0B3CE-5556-C671-BB5D-C09AA1F32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A946F-7530-BB7A-A78A-DB67DA16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8F7F6-1E5E-C601-C8E4-8BF168ED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49555-4C32-A013-998E-45DB3CE0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191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92D95-30BD-D380-A52F-EDC68C9D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3B63697D-DAF7-9580-F8EC-2DEE36AAFE4C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0EC99D-7124-55A1-F71F-AB84D655B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64108F-AE09-6C0D-9CC1-7B904B8A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B0D00-E5C0-4189-809A-03C0E3B9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5B7770-DAB6-379A-CAED-B3E0BF0E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8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0D36C8-0159-4C1D-71F7-0E6D174BC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630B3E-0D72-36DB-88C4-61C0EC8CD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9EFE0-F372-ADE7-166E-735ADAD32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C5489-9896-489C-BB17-407EF9D6B4C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722EC8-B893-A6DA-4D5D-2D51DED47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03A36-CB09-9C99-0322-543D3B5D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58D33-94C9-419D-BD6D-9EBFC32449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07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F0540FA-273C-7502-E453-C53DE492927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D51A4D-3D18-7568-AA4C-BD514B63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9F5C08F7-7FE2-845C-1356-79259835CDF4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F95822-F849-B72F-3BB0-99AAE56D1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B4982B-25DC-2169-702B-ECF54F83D74A}"/>
              </a:ext>
            </a:extLst>
          </p:cNvPr>
          <p:cNvSpPr txBox="1"/>
          <p:nvPr/>
        </p:nvSpPr>
        <p:spPr>
          <a:xfrm>
            <a:off x="0" y="171450"/>
            <a:ext cx="18288000" cy="52322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智言大模型服务平台技术架构与数据流框架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5676A4-6A82-215C-A8B0-2CC7265B93A0}"/>
              </a:ext>
            </a:extLst>
          </p:cNvPr>
          <p:cNvSpPr/>
          <p:nvPr/>
        </p:nvSpPr>
        <p:spPr>
          <a:xfrm>
            <a:off x="14097000" y="666750"/>
            <a:ext cx="152400" cy="95250"/>
          </a:xfrm>
          <a:prstGeom prst="rect">
            <a:avLst/>
          </a:prstGeom>
          <a:solidFill>
            <a:srgbClr val="AF9A8E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A0EE8C-524E-EE8E-921C-D7D0EF250E74}"/>
              </a:ext>
            </a:extLst>
          </p:cNvPr>
          <p:cNvSpPr txBox="1"/>
          <p:nvPr/>
        </p:nvSpPr>
        <p:spPr>
          <a:xfrm>
            <a:off x="14287500" y="647700"/>
            <a:ext cx="5715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数据流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853F420-5A7C-F484-1FB7-3BEBFAD8FD4B}"/>
              </a:ext>
            </a:extLst>
          </p:cNvPr>
          <p:cNvCxnSpPr/>
          <p:nvPr/>
        </p:nvCxnSpPr>
        <p:spPr>
          <a:xfrm>
            <a:off x="14097000" y="857250"/>
            <a:ext cx="1524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B64F23C-50F6-C324-3884-758AA15ED2E6}"/>
              </a:ext>
            </a:extLst>
          </p:cNvPr>
          <p:cNvSpPr txBox="1"/>
          <p:nvPr/>
        </p:nvSpPr>
        <p:spPr>
          <a:xfrm>
            <a:off x="14287500" y="838200"/>
            <a:ext cx="5715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控制流</a:t>
            </a: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22E95891-3DC8-C6DA-112E-494C1FB0D83F}"/>
              </a:ext>
            </a:extLst>
          </p:cNvPr>
          <p:cNvCxnSpPr/>
          <p:nvPr/>
        </p:nvCxnSpPr>
        <p:spPr>
          <a:xfrm>
            <a:off x="14173200" y="1047750"/>
            <a:ext cx="0" cy="133350"/>
          </a:xfrm>
          <a:prstGeom prst="curvedConnector3">
            <a:avLst/>
          </a:prstGeom>
          <a:ln w="19050" cap="sq">
            <a:solidFill>
              <a:srgbClr val="8E9AAF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0EB705B-6D2F-3201-A887-A3DCD847E6A9}"/>
              </a:ext>
            </a:extLst>
          </p:cNvPr>
          <p:cNvSpPr txBox="1"/>
          <p:nvPr/>
        </p:nvSpPr>
        <p:spPr>
          <a:xfrm>
            <a:off x="14287500" y="1028700"/>
            <a:ext cx="5715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反馈流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3BA284-9C3D-94C4-1688-DE13A480C53F}"/>
              </a:ext>
            </a:extLst>
          </p:cNvPr>
          <p:cNvSpPr/>
          <p:nvPr/>
        </p:nvSpPr>
        <p:spPr>
          <a:xfrm>
            <a:off x="1809750" y="857250"/>
            <a:ext cx="14097000" cy="1381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5EBAC1-8A0D-1EC0-4395-A01574C0421B}"/>
              </a:ext>
            </a:extLst>
          </p:cNvPr>
          <p:cNvSpPr txBox="1"/>
          <p:nvPr/>
        </p:nvSpPr>
        <p:spPr>
          <a:xfrm>
            <a:off x="1885950" y="762000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1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用户接入层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0818E3F-D8E9-D579-27C0-1A123D600A0D}"/>
              </a:ext>
            </a:extLst>
          </p:cNvPr>
          <p:cNvSpPr/>
          <p:nvPr/>
        </p:nvSpPr>
        <p:spPr>
          <a:xfrm>
            <a:off x="1905000" y="952500"/>
            <a:ext cx="3390900" cy="666750"/>
          </a:xfrm>
          <a:prstGeom prst="roundRect">
            <a:avLst/>
          </a:prstGeom>
          <a:solidFill>
            <a:srgbClr val="CBC0D3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Web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客户端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Web Portal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42B97DF-0EFC-0982-0DA0-7E902A935371}"/>
              </a:ext>
            </a:extLst>
          </p:cNvPr>
          <p:cNvSpPr/>
          <p:nvPr/>
        </p:nvSpPr>
        <p:spPr>
          <a:xfrm>
            <a:off x="5410200" y="952500"/>
            <a:ext cx="3390900" cy="666750"/>
          </a:xfrm>
          <a:prstGeom prst="roundRect">
            <a:avLst/>
          </a:prstGeom>
          <a:solidFill>
            <a:srgbClr val="CBC0D3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移动小程序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Mini Program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4882B37-12BB-1875-249A-D1AFB345263B}"/>
              </a:ext>
            </a:extLst>
          </p:cNvPr>
          <p:cNvSpPr/>
          <p:nvPr/>
        </p:nvSpPr>
        <p:spPr>
          <a:xfrm>
            <a:off x="8915400" y="952500"/>
            <a:ext cx="3390900" cy="666750"/>
          </a:xfrm>
          <a:prstGeom prst="roundRect">
            <a:avLst/>
          </a:prstGeom>
          <a:solidFill>
            <a:srgbClr val="CBC0D3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Open API
RESTful/gRPC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F6F9952-A940-E1CB-4EE3-E7D77547E1E9}"/>
              </a:ext>
            </a:extLst>
          </p:cNvPr>
          <p:cNvSpPr/>
          <p:nvPr/>
        </p:nvSpPr>
        <p:spPr>
          <a:xfrm>
            <a:off x="12420600" y="952500"/>
            <a:ext cx="3390900" cy="666750"/>
          </a:xfrm>
          <a:prstGeom prst="roundRect">
            <a:avLst/>
          </a:prstGeom>
          <a:solidFill>
            <a:srgbClr val="CBC0D3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管理后台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Admin Console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C249B-0036-FF0D-0119-C3064C428E25}"/>
              </a:ext>
            </a:extLst>
          </p:cNvPr>
          <p:cNvSpPr/>
          <p:nvPr/>
        </p:nvSpPr>
        <p:spPr>
          <a:xfrm>
            <a:off x="3267075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HTTPS/SSL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54AD71C-E0F2-DB75-5CC1-3676238F0148}"/>
              </a:ext>
            </a:extLst>
          </p:cNvPr>
          <p:cNvSpPr/>
          <p:nvPr/>
        </p:nvSpPr>
        <p:spPr>
          <a:xfrm>
            <a:off x="6772275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OAuth 2.0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647E382-4A30-BB59-C6DE-6C885F25CB22}"/>
              </a:ext>
            </a:extLst>
          </p:cNvPr>
          <p:cNvSpPr/>
          <p:nvPr/>
        </p:nvSpPr>
        <p:spPr>
          <a:xfrm>
            <a:off x="10277475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JWT Token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905FF6C-C6E0-2A50-CBA0-BA8D0D03FFE4}"/>
              </a:ext>
            </a:extLst>
          </p:cNvPr>
          <p:cNvSpPr/>
          <p:nvPr/>
        </p:nvSpPr>
        <p:spPr>
          <a:xfrm>
            <a:off x="13782675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WS/WSS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1F6371-2C72-08D0-71B9-F743341279A6}"/>
              </a:ext>
            </a:extLst>
          </p:cNvPr>
          <p:cNvSpPr/>
          <p:nvPr/>
        </p:nvSpPr>
        <p:spPr>
          <a:xfrm>
            <a:off x="1809750" y="2238375"/>
            <a:ext cx="14097000" cy="1381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B8F2CC-3E1A-7273-87C2-24E310321FBD}"/>
              </a:ext>
            </a:extLst>
          </p:cNvPr>
          <p:cNvSpPr txBox="1"/>
          <p:nvPr/>
        </p:nvSpPr>
        <p:spPr>
          <a:xfrm>
            <a:off x="1885950" y="2143125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2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网关与调度层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7D90811-D477-EBBD-FCE1-B60045462C8E}"/>
              </a:ext>
            </a:extLst>
          </p:cNvPr>
          <p:cNvSpPr/>
          <p:nvPr/>
        </p:nvSpPr>
        <p:spPr>
          <a:xfrm>
            <a:off x="1905000" y="2333625"/>
            <a:ext cx="3390900" cy="666750"/>
          </a:xfrm>
          <a:prstGeom prst="roundRect">
            <a:avLst/>
          </a:prstGeom>
          <a:solidFill>
            <a:srgbClr val="B7B7A4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API Gateway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统一接入网关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9120F2B-0BEF-4310-17EB-A90C0B683FC9}"/>
              </a:ext>
            </a:extLst>
          </p:cNvPr>
          <p:cNvSpPr/>
          <p:nvPr/>
        </p:nvSpPr>
        <p:spPr>
          <a:xfrm>
            <a:off x="5410200" y="2333625"/>
            <a:ext cx="3390900" cy="666750"/>
          </a:xfrm>
          <a:prstGeom prst="roundRect">
            <a:avLst/>
          </a:prstGeom>
          <a:solidFill>
            <a:srgbClr val="B7B7A4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Load Balancer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动态负载均衡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3C99DF-A946-69AD-DDC9-FF3CD5771A50}"/>
              </a:ext>
            </a:extLst>
          </p:cNvPr>
          <p:cNvSpPr/>
          <p:nvPr/>
        </p:nvSpPr>
        <p:spPr>
          <a:xfrm>
            <a:off x="8915400" y="2333625"/>
            <a:ext cx="3390900" cy="666750"/>
          </a:xfrm>
          <a:prstGeom prst="roundRect">
            <a:avLst/>
          </a:prstGeom>
          <a:solidFill>
            <a:srgbClr val="B7B7A4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Auth Center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身份鉴权中心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ADCDE2E-F716-95FC-FFC4-83A7353F6D80}"/>
              </a:ext>
            </a:extLst>
          </p:cNvPr>
          <p:cNvSpPr/>
          <p:nvPr/>
        </p:nvSpPr>
        <p:spPr>
          <a:xfrm>
            <a:off x="12420600" y="2333625"/>
            <a:ext cx="3390900" cy="666750"/>
          </a:xfrm>
          <a:prstGeom prst="roundRect">
            <a:avLst/>
          </a:prstGeom>
          <a:solidFill>
            <a:srgbClr val="B7B7A4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Rate Limiter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流量限速器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C4AFB-5013-FA4D-569A-8297CB001312}"/>
              </a:ext>
            </a:extLst>
          </p:cNvPr>
          <p:cNvSpPr/>
          <p:nvPr/>
        </p:nvSpPr>
        <p:spPr>
          <a:xfrm>
            <a:off x="3267075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灰度路由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5868FC2-176D-0637-FFF4-AA3B999D76FA}"/>
              </a:ext>
            </a:extLst>
          </p:cNvPr>
          <p:cNvSpPr/>
          <p:nvPr/>
        </p:nvSpPr>
        <p:spPr>
          <a:xfrm>
            <a:off x="6772275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熔断降级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5D3300-CABF-D11D-0AFF-0580423272E8}"/>
              </a:ext>
            </a:extLst>
          </p:cNvPr>
          <p:cNvSpPr/>
          <p:nvPr/>
        </p:nvSpPr>
        <p:spPr>
          <a:xfrm>
            <a:off x="10277475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请求鉴权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A4AC075-80FD-EF69-901D-D1B153E1F0D8}"/>
              </a:ext>
            </a:extLst>
          </p:cNvPr>
          <p:cNvSpPr/>
          <p:nvPr/>
        </p:nvSpPr>
        <p:spPr>
          <a:xfrm>
            <a:off x="13782675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限流控制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99B7F8-FF22-5D7A-01A2-DB82F31C502C}"/>
              </a:ext>
            </a:extLst>
          </p:cNvPr>
          <p:cNvSpPr/>
          <p:nvPr/>
        </p:nvSpPr>
        <p:spPr>
          <a:xfrm>
            <a:off x="1809750" y="3619500"/>
            <a:ext cx="14097000" cy="147637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D184F06-1503-5798-3BAB-96E59715ED0C}"/>
              </a:ext>
            </a:extLst>
          </p:cNvPr>
          <p:cNvSpPr txBox="1"/>
          <p:nvPr/>
        </p:nvSpPr>
        <p:spPr>
          <a:xfrm>
            <a:off x="1885950" y="3524250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3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业务应用中心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1ED34D3-EC1E-7A07-F08B-0266F0DC98FC}"/>
              </a:ext>
            </a:extLst>
          </p:cNvPr>
          <p:cNvSpPr/>
          <p:nvPr/>
        </p:nvSpPr>
        <p:spPr>
          <a:xfrm>
            <a:off x="1905000" y="3714750"/>
            <a:ext cx="3390900" cy="523875"/>
          </a:xfrm>
          <a:prstGeom prst="roundRect">
            <a:avLst/>
          </a:prstGeom>
          <a:solidFill>
            <a:srgbClr val="D8E2DC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智能客服中心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ACA4A29-FFE2-336B-3F09-8DA582E1D5B3}"/>
              </a:ext>
            </a:extLst>
          </p:cNvPr>
          <p:cNvSpPr/>
          <p:nvPr/>
        </p:nvSpPr>
        <p:spPr>
          <a:xfrm>
            <a:off x="19050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多轮对话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A5A48CC-4F0E-DBF2-5588-74CC6767860D}"/>
              </a:ext>
            </a:extLst>
          </p:cNvPr>
          <p:cNvSpPr/>
          <p:nvPr/>
        </p:nvSpPr>
        <p:spPr>
          <a:xfrm>
            <a:off x="30480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意图识别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10B2CB8-ADAA-098E-4616-C6BD59E87939}"/>
              </a:ext>
            </a:extLst>
          </p:cNvPr>
          <p:cNvSpPr/>
          <p:nvPr/>
        </p:nvSpPr>
        <p:spPr>
          <a:xfrm>
            <a:off x="41910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情感分析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AD51CA9-64D9-5268-91C2-F74E8B95952A}"/>
              </a:ext>
            </a:extLst>
          </p:cNvPr>
          <p:cNvSpPr/>
          <p:nvPr/>
        </p:nvSpPr>
        <p:spPr>
          <a:xfrm>
            <a:off x="496252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8E2DC"/>
                </a:solidFill>
                <a:latin typeface="Arial" panose="020B0604020202020204" pitchFamily="34" charset="0"/>
              </a:rPr>
              <a:t>SaaS</a:t>
            </a:r>
            <a:endParaRPr lang="zh-CN" altLang="en-US" sz="800">
              <a:solidFill>
                <a:srgbClr val="D8E2DC"/>
              </a:solidFill>
              <a:latin typeface="Arial" panose="020B0604020202020204" pitchFamily="34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708BBFE-927B-50FC-AFAD-A1F741D287A6}"/>
              </a:ext>
            </a:extLst>
          </p:cNvPr>
          <p:cNvSpPr/>
          <p:nvPr/>
        </p:nvSpPr>
        <p:spPr>
          <a:xfrm>
            <a:off x="5410200" y="3714750"/>
            <a:ext cx="3390900" cy="523875"/>
          </a:xfrm>
          <a:prstGeom prst="roundRect">
            <a:avLst/>
          </a:prstGeom>
          <a:solidFill>
            <a:srgbClr val="D8E2DC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知识问答中心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D0D5036-FBBB-305E-0EFB-BD5A5105F047}"/>
              </a:ext>
            </a:extLst>
          </p:cNvPr>
          <p:cNvSpPr/>
          <p:nvPr/>
        </p:nvSpPr>
        <p:spPr>
          <a:xfrm>
            <a:off x="54102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文档解析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3826E89-2FF6-3CF7-7B5D-1478AAB92B45}"/>
              </a:ext>
            </a:extLst>
          </p:cNvPr>
          <p:cNvSpPr/>
          <p:nvPr/>
        </p:nvSpPr>
        <p:spPr>
          <a:xfrm>
            <a:off x="65532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语义检索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9542944-0241-51A7-1678-D5ED87071AE1}"/>
              </a:ext>
            </a:extLst>
          </p:cNvPr>
          <p:cNvSpPr/>
          <p:nvPr/>
        </p:nvSpPr>
        <p:spPr>
          <a:xfrm>
            <a:off x="76962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答案生成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9320BDB-15BC-84C0-1EFA-F6250D831D88}"/>
              </a:ext>
            </a:extLst>
          </p:cNvPr>
          <p:cNvSpPr/>
          <p:nvPr/>
        </p:nvSpPr>
        <p:spPr>
          <a:xfrm>
            <a:off x="846772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8E2DC"/>
                </a:solidFill>
                <a:latin typeface="Arial" panose="020B0604020202020204" pitchFamily="34" charset="0"/>
              </a:rPr>
              <a:t>PaaS</a:t>
            </a:r>
            <a:endParaRPr lang="zh-CN" altLang="en-US" sz="800">
              <a:solidFill>
                <a:srgbClr val="D8E2DC"/>
              </a:solidFill>
              <a:latin typeface="Arial" panose="020B0604020202020204" pitchFamily="34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6C61E26-9F66-B275-D71B-D683BC8DBC50}"/>
              </a:ext>
            </a:extLst>
          </p:cNvPr>
          <p:cNvSpPr/>
          <p:nvPr/>
        </p:nvSpPr>
        <p:spPr>
          <a:xfrm>
            <a:off x="8915400" y="3714750"/>
            <a:ext cx="3390900" cy="523875"/>
          </a:xfrm>
          <a:prstGeom prst="roundRect">
            <a:avLst/>
          </a:prstGeom>
          <a:solidFill>
            <a:srgbClr val="D8E2DC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内容生成中心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414C6873-59EB-C3D7-B82F-5058FD8D96CE}"/>
              </a:ext>
            </a:extLst>
          </p:cNvPr>
          <p:cNvSpPr/>
          <p:nvPr/>
        </p:nvSpPr>
        <p:spPr>
          <a:xfrm>
            <a:off x="89154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文案创作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8B335F1-BE11-DA6D-B29E-7A3DA28B0A75}"/>
              </a:ext>
            </a:extLst>
          </p:cNvPr>
          <p:cNvSpPr/>
          <p:nvPr/>
        </p:nvSpPr>
        <p:spPr>
          <a:xfrm>
            <a:off x="100584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代码生成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EC4557A6-167C-7994-7F62-E5D938B276D4}"/>
              </a:ext>
            </a:extLst>
          </p:cNvPr>
          <p:cNvSpPr/>
          <p:nvPr/>
        </p:nvSpPr>
        <p:spPr>
          <a:xfrm>
            <a:off x="112014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报表生成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47D179F7-95E6-56E5-8BA5-13AEB87FEFE4}"/>
              </a:ext>
            </a:extLst>
          </p:cNvPr>
          <p:cNvSpPr/>
          <p:nvPr/>
        </p:nvSpPr>
        <p:spPr>
          <a:xfrm>
            <a:off x="1197292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8E2DC"/>
                </a:solidFill>
                <a:latin typeface="Arial" panose="020B0604020202020204" pitchFamily="34" charset="0"/>
              </a:rPr>
              <a:t>API</a:t>
            </a:r>
            <a:endParaRPr lang="zh-CN" altLang="en-US" sz="800">
              <a:solidFill>
                <a:srgbClr val="D8E2DC"/>
              </a:solidFill>
              <a:latin typeface="Arial" panose="020B0604020202020204" pitchFamily="34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F938208-FA2C-D105-3311-B575ED9E6D77}"/>
              </a:ext>
            </a:extLst>
          </p:cNvPr>
          <p:cNvSpPr/>
          <p:nvPr/>
        </p:nvSpPr>
        <p:spPr>
          <a:xfrm>
            <a:off x="12420600" y="3714750"/>
            <a:ext cx="3390900" cy="523875"/>
          </a:xfrm>
          <a:prstGeom prst="roundRect">
            <a:avLst/>
          </a:prstGeom>
          <a:solidFill>
            <a:srgbClr val="D8E2DC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数据分析中心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B3CE0A7-662F-8809-F031-9DA5D8967229}"/>
              </a:ext>
            </a:extLst>
          </p:cNvPr>
          <p:cNvSpPr/>
          <p:nvPr/>
        </p:nvSpPr>
        <p:spPr>
          <a:xfrm>
            <a:off x="124206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文本挖掘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3FCBD55-46C6-FD3C-02C7-0CE2A0D83634}"/>
              </a:ext>
            </a:extLst>
          </p:cNvPr>
          <p:cNvSpPr/>
          <p:nvPr/>
        </p:nvSpPr>
        <p:spPr>
          <a:xfrm>
            <a:off x="135636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趋势预测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7F987F1-176D-0912-2C93-8D47615D596C}"/>
              </a:ext>
            </a:extLst>
          </p:cNvPr>
          <p:cNvSpPr/>
          <p:nvPr/>
        </p:nvSpPr>
        <p:spPr>
          <a:xfrm>
            <a:off x="14706600" y="4267200"/>
            <a:ext cx="1104900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可视化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03835F5-135A-AEDA-60CB-057135312AD9}"/>
              </a:ext>
            </a:extLst>
          </p:cNvPr>
          <p:cNvSpPr/>
          <p:nvPr/>
        </p:nvSpPr>
        <p:spPr>
          <a:xfrm>
            <a:off x="1547812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8E2DC"/>
                </a:solidFill>
                <a:latin typeface="Arial" panose="020B0604020202020204" pitchFamily="34" charset="0"/>
              </a:rPr>
              <a:t>BI</a:t>
            </a:r>
            <a:endParaRPr lang="zh-CN" altLang="en-US" sz="800">
              <a:solidFill>
                <a:srgbClr val="D8E2DC"/>
              </a:solidFill>
              <a:latin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F21F962-A137-8CDE-4C5D-9E7055E16B7A}"/>
              </a:ext>
            </a:extLst>
          </p:cNvPr>
          <p:cNvSpPr/>
          <p:nvPr/>
        </p:nvSpPr>
        <p:spPr>
          <a:xfrm>
            <a:off x="1809750" y="5095875"/>
            <a:ext cx="14097000" cy="12382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2A1AAB7-20B5-FFB1-4E4F-1D9E3154A631}"/>
              </a:ext>
            </a:extLst>
          </p:cNvPr>
          <p:cNvSpPr txBox="1"/>
          <p:nvPr/>
        </p:nvSpPr>
        <p:spPr>
          <a:xfrm>
            <a:off x="1885950" y="5000625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4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模型引擎层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8A16580-4ADB-C188-D6BB-A995B40CD2C0}"/>
              </a:ext>
            </a:extLst>
          </p:cNvPr>
          <p:cNvSpPr/>
          <p:nvPr/>
        </p:nvSpPr>
        <p:spPr>
          <a:xfrm>
            <a:off x="19050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基座大模型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Pre-training &amp; CL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3128E59-2CE5-F42A-4AD4-292DAF4D6746}"/>
              </a:ext>
            </a:extLst>
          </p:cNvPr>
          <p:cNvSpPr/>
          <p:nvPr/>
        </p:nvSpPr>
        <p:spPr>
          <a:xfrm>
            <a:off x="42418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领域微调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LoRA / SFT / PT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9D07087-DA6F-E13B-A554-B6178ACB3B51}"/>
              </a:ext>
            </a:extLst>
          </p:cNvPr>
          <p:cNvSpPr/>
          <p:nvPr/>
        </p:nvSpPr>
        <p:spPr>
          <a:xfrm>
            <a:off x="65786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RAG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检索增强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Vector Index / RR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481ABBF-7280-AF68-BFA4-86E5176FD2BA}"/>
              </a:ext>
            </a:extLst>
          </p:cNvPr>
          <p:cNvSpPr/>
          <p:nvPr/>
        </p:nvSpPr>
        <p:spPr>
          <a:xfrm>
            <a:off x="89154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推理加速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Quant / Batch / Cache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2A117E2-B144-4003-9159-2572EE74CE4E}"/>
              </a:ext>
            </a:extLst>
          </p:cNvPr>
          <p:cNvSpPr/>
          <p:nvPr/>
        </p:nvSpPr>
        <p:spPr>
          <a:xfrm>
            <a:off x="112522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模型评估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Auto-eval / A-B Test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05C3D0FE-1021-0E4F-EB5A-DA57136C9BD0}"/>
              </a:ext>
            </a:extLst>
          </p:cNvPr>
          <p:cNvSpPr/>
          <p:nvPr/>
        </p:nvSpPr>
        <p:spPr>
          <a:xfrm>
            <a:off x="13589000" y="5191125"/>
            <a:ext cx="2222500" cy="1047750"/>
          </a:xfrm>
          <a:prstGeom prst="roundRect">
            <a:avLst/>
          </a:prstGeom>
          <a:solidFill>
            <a:srgbClr val="8E9AA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模型监控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Drift / Degradation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BF2F499-32F2-E237-F612-6A3AE4F61277}"/>
              </a:ext>
            </a:extLst>
          </p:cNvPr>
          <p:cNvSpPr/>
          <p:nvPr/>
        </p:nvSpPr>
        <p:spPr>
          <a:xfrm>
            <a:off x="1809750" y="6334125"/>
            <a:ext cx="14097000" cy="10477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D4D9E21-C658-533E-28E2-40ECA1D67240}"/>
              </a:ext>
            </a:extLst>
          </p:cNvPr>
          <p:cNvSpPr txBox="1"/>
          <p:nvPr/>
        </p:nvSpPr>
        <p:spPr>
          <a:xfrm>
            <a:off x="1885950" y="6238875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5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数据资源层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678F27C-6F24-03FC-AC40-401752B554D7}"/>
              </a:ext>
            </a:extLst>
          </p:cNvPr>
          <p:cNvSpPr/>
          <p:nvPr/>
        </p:nvSpPr>
        <p:spPr>
          <a:xfrm>
            <a:off x="1905000" y="6429375"/>
            <a:ext cx="3390900" cy="857250"/>
          </a:xfrm>
          <a:prstGeom prst="roundRect">
            <a:avLst/>
          </a:prstGeom>
          <a:solidFill>
            <a:srgbClr val="EFD3D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行业知识库
结构化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非结构化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BBE935A-E340-8B7C-D9B6-8E9881BF831B}"/>
              </a:ext>
            </a:extLst>
          </p:cNvPr>
          <p:cNvSpPr/>
          <p:nvPr/>
        </p:nvSpPr>
        <p:spPr>
          <a:xfrm>
            <a:off x="5410200" y="6429375"/>
            <a:ext cx="3390900" cy="857250"/>
          </a:xfrm>
          <a:prstGeom prst="roundRect">
            <a:avLst/>
          </a:prstGeom>
          <a:solidFill>
            <a:srgbClr val="EFD3D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训练数据集
清洗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标注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增强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573DFE0-7E06-C686-954A-4C6476BA0BF9}"/>
              </a:ext>
            </a:extLst>
          </p:cNvPr>
          <p:cNvSpPr/>
          <p:nvPr/>
        </p:nvSpPr>
        <p:spPr>
          <a:xfrm>
            <a:off x="8915400" y="6429375"/>
            <a:ext cx="3390900" cy="857250"/>
          </a:xfrm>
          <a:prstGeom prst="roundRect">
            <a:avLst/>
          </a:prstGeom>
          <a:solidFill>
            <a:srgbClr val="EFD3D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向量数据库
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Embedding/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相似度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73B14591-AA43-FC34-6EA2-0F29E2703E27}"/>
              </a:ext>
            </a:extLst>
          </p:cNvPr>
          <p:cNvSpPr/>
          <p:nvPr/>
        </p:nvSpPr>
        <p:spPr>
          <a:xfrm>
            <a:off x="12420600" y="6429375"/>
            <a:ext cx="3390900" cy="857250"/>
          </a:xfrm>
          <a:prstGeom prst="roundRect">
            <a:avLst/>
          </a:prstGeom>
          <a:solidFill>
            <a:srgbClr val="EFD3D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数据治理平台
脱敏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合规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血缘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5AE87BB-36BB-74A3-4DD6-C1D2603C525F}"/>
              </a:ext>
            </a:extLst>
          </p:cNvPr>
          <p:cNvSpPr/>
          <p:nvPr/>
        </p:nvSpPr>
        <p:spPr>
          <a:xfrm>
            <a:off x="1809750" y="7381875"/>
            <a:ext cx="14097000" cy="1000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9E823F8-1C4B-692F-B6E6-3912AF866A9E}"/>
              </a:ext>
            </a:extLst>
          </p:cNvPr>
          <p:cNvSpPr txBox="1"/>
          <p:nvPr/>
        </p:nvSpPr>
        <p:spPr>
          <a:xfrm>
            <a:off x="1885950" y="7286625"/>
            <a:ext cx="1143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900" b="1">
                <a:solidFill>
                  <a:srgbClr val="8E9AAF"/>
                </a:solidFill>
                <a:latin typeface="Arial" panose="020B0604020202020204" pitchFamily="34" charset="0"/>
              </a:rPr>
              <a:t>Layer 6 </a:t>
            </a:r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基础设施层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65A764FC-D072-2BAB-42C0-A4CFDF5F17CC}"/>
              </a:ext>
            </a:extLst>
          </p:cNvPr>
          <p:cNvSpPr/>
          <p:nvPr/>
        </p:nvSpPr>
        <p:spPr>
          <a:xfrm>
            <a:off x="1905000" y="7477125"/>
            <a:ext cx="2689860" cy="809625"/>
          </a:xfrm>
          <a:prstGeom prst="roundRect">
            <a:avLst/>
          </a:prstGeom>
          <a:solidFill>
            <a:srgbClr val="A2A39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国产化算力
昇腾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/GPU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混合调度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6E3A443-1744-80E5-7E7F-788BEA7E2C95}"/>
              </a:ext>
            </a:extLst>
          </p:cNvPr>
          <p:cNvSpPr/>
          <p:nvPr/>
        </p:nvSpPr>
        <p:spPr>
          <a:xfrm>
            <a:off x="4709160" y="7477125"/>
            <a:ext cx="2689860" cy="809625"/>
          </a:xfrm>
          <a:prstGeom prst="roundRect">
            <a:avLst/>
          </a:prstGeom>
          <a:solidFill>
            <a:srgbClr val="A2A39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容器编排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K8s/Docker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弹性伸缩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C5382F8-03B8-3336-FA53-FCC7041A4A65}"/>
              </a:ext>
            </a:extLst>
          </p:cNvPr>
          <p:cNvSpPr/>
          <p:nvPr/>
        </p:nvSpPr>
        <p:spPr>
          <a:xfrm>
            <a:off x="7513320" y="7477125"/>
            <a:ext cx="2689860" cy="809625"/>
          </a:xfrm>
          <a:prstGeom prst="roundRect">
            <a:avLst/>
          </a:prstGeom>
          <a:solidFill>
            <a:srgbClr val="A2A39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安全网关
防火墙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零信任架构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39ECC48-0B65-11C3-8DFF-FF83D5467B98}"/>
              </a:ext>
            </a:extLst>
          </p:cNvPr>
          <p:cNvSpPr/>
          <p:nvPr/>
        </p:nvSpPr>
        <p:spPr>
          <a:xfrm>
            <a:off x="10317480" y="7477125"/>
            <a:ext cx="2689861" cy="809625"/>
          </a:xfrm>
          <a:prstGeom prst="roundRect">
            <a:avLst/>
          </a:prstGeom>
          <a:solidFill>
            <a:srgbClr val="A2A39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监控运维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Prometheus/Grafana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6FF6359-E2AC-3249-CCF9-3BF9C3EFF1AB}"/>
              </a:ext>
            </a:extLst>
          </p:cNvPr>
          <p:cNvSpPr/>
          <p:nvPr/>
        </p:nvSpPr>
        <p:spPr>
          <a:xfrm>
            <a:off x="13121639" y="7477125"/>
            <a:ext cx="2689861" cy="809625"/>
          </a:xfrm>
          <a:prstGeom prst="roundRect">
            <a:avLst/>
          </a:prstGeom>
          <a:solidFill>
            <a:srgbClr val="A2A39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网络隔离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VPC/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子网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安全组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923B355-1AF1-A1C2-6CE5-8ED76F6E980F}"/>
              </a:ext>
            </a:extLst>
          </p:cNvPr>
          <p:cNvSpPr/>
          <p:nvPr/>
        </p:nvSpPr>
        <p:spPr>
          <a:xfrm>
            <a:off x="190500" y="3619500"/>
            <a:ext cx="1714500" cy="47625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98C82ED-F2C1-F53C-7FDD-2E79F677E1EA}"/>
              </a:ext>
            </a:extLst>
          </p:cNvPr>
          <p:cNvSpPr txBox="1"/>
          <p:nvPr/>
        </p:nvSpPr>
        <p:spPr>
          <a:xfrm>
            <a:off x="266700" y="3524250"/>
            <a:ext cx="114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部署域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60B173F6-A539-3166-9408-E25E81F3A42A}"/>
              </a:ext>
            </a:extLst>
          </p:cNvPr>
          <p:cNvSpPr/>
          <p:nvPr/>
        </p:nvSpPr>
        <p:spPr>
          <a:xfrm>
            <a:off x="285750" y="3714750"/>
            <a:ext cx="1524000" cy="1057275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公有云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9E90D5F-085C-A0C2-8CEB-4FF6964CA814}"/>
              </a:ext>
            </a:extLst>
          </p:cNvPr>
          <p:cNvSpPr/>
          <p:nvPr/>
        </p:nvSpPr>
        <p:spPr>
          <a:xfrm>
            <a:off x="285750" y="4886325"/>
            <a:ext cx="1524000" cy="1057275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私有云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EFD4F9C0-B331-9BF3-0818-14B8398BC107}"/>
              </a:ext>
            </a:extLst>
          </p:cNvPr>
          <p:cNvSpPr/>
          <p:nvPr/>
        </p:nvSpPr>
        <p:spPr>
          <a:xfrm>
            <a:off x="285750" y="6057900"/>
            <a:ext cx="1524000" cy="1057275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混合云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7AFE4431-57CD-FE34-D371-6AD07245A8B0}"/>
              </a:ext>
            </a:extLst>
          </p:cNvPr>
          <p:cNvSpPr/>
          <p:nvPr/>
        </p:nvSpPr>
        <p:spPr>
          <a:xfrm>
            <a:off x="285750" y="7229475"/>
            <a:ext cx="1524000" cy="1057275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边缘节点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7F2A06B-29F6-80FD-E3E9-30F2693D2820}"/>
              </a:ext>
            </a:extLst>
          </p:cNvPr>
          <p:cNvCxnSpPr/>
          <p:nvPr/>
        </p:nvCxnSpPr>
        <p:spPr>
          <a:xfrm>
            <a:off x="1809750" y="4243388"/>
            <a:ext cx="0" cy="363855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E37CEC00-2D34-085B-DDB5-5B83A9C3C29F}"/>
              </a:ext>
            </a:extLst>
          </p:cNvPr>
          <p:cNvCxnSpPr/>
          <p:nvPr/>
        </p:nvCxnSpPr>
        <p:spPr>
          <a:xfrm>
            <a:off x="1809750" y="5414963"/>
            <a:ext cx="0" cy="246697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B65E2F6-1075-0E51-2D0A-41400E81BA7A}"/>
              </a:ext>
            </a:extLst>
          </p:cNvPr>
          <p:cNvCxnSpPr/>
          <p:nvPr/>
        </p:nvCxnSpPr>
        <p:spPr>
          <a:xfrm>
            <a:off x="1809750" y="6586538"/>
            <a:ext cx="0" cy="12954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F6DDBAC1-FCD5-57B6-0510-627E98D4206C}"/>
              </a:ext>
            </a:extLst>
          </p:cNvPr>
          <p:cNvCxnSpPr/>
          <p:nvPr/>
        </p:nvCxnSpPr>
        <p:spPr>
          <a:xfrm>
            <a:off x="1809750" y="7758113"/>
            <a:ext cx="0" cy="12382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5E480B94-3D50-2803-D0A7-4D7498143320}"/>
              </a:ext>
            </a:extLst>
          </p:cNvPr>
          <p:cNvSpPr/>
          <p:nvPr/>
        </p:nvSpPr>
        <p:spPr>
          <a:xfrm>
            <a:off x="16097250" y="857250"/>
            <a:ext cx="1714500" cy="75247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8E9AAF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0E9E78B-B597-449C-555C-DEE3F7CFA6AC}"/>
              </a:ext>
            </a:extLst>
          </p:cNvPr>
          <p:cNvSpPr txBox="1"/>
          <p:nvPr/>
        </p:nvSpPr>
        <p:spPr>
          <a:xfrm>
            <a:off x="16173450" y="762000"/>
            <a:ext cx="1143000" cy="2308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zh-CN" altLang="en-US" sz="900" b="1">
                <a:solidFill>
                  <a:srgbClr val="8E9AAF"/>
                </a:solidFill>
                <a:latin typeface="Arial" panose="020B0604020202020204" pitchFamily="34" charset="0"/>
              </a:rPr>
              <a:t>安全治理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65DDFD36-1B35-E565-0E75-AC7BE0509527}"/>
              </a:ext>
            </a:extLst>
          </p:cNvPr>
          <p:cNvSpPr/>
          <p:nvPr/>
        </p:nvSpPr>
        <p:spPr>
          <a:xfrm>
            <a:off x="16192500" y="1143000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实时监控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386CEDB7-E249-C376-05FD-9A4845D87D44}"/>
              </a:ext>
            </a:extLst>
          </p:cNvPr>
          <p:cNvCxnSpPr/>
          <p:nvPr/>
        </p:nvCxnSpPr>
        <p:spPr>
          <a:xfrm flipH="1">
            <a:off x="15906750" y="1314450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2CED778-DBF3-0E7C-956E-96FED2D30AE5}"/>
              </a:ext>
            </a:extLst>
          </p:cNvPr>
          <p:cNvSpPr/>
          <p:nvPr/>
        </p:nvSpPr>
        <p:spPr>
          <a:xfrm>
            <a:off x="16192500" y="2524125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合规审计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65C46A0-375F-83B2-1224-3153A2128EA4}"/>
              </a:ext>
            </a:extLst>
          </p:cNvPr>
          <p:cNvCxnSpPr/>
          <p:nvPr/>
        </p:nvCxnSpPr>
        <p:spPr>
          <a:xfrm flipH="1">
            <a:off x="15906750" y="269557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486C5C8-ABB6-CBB6-E9C5-92489D9580C6}"/>
              </a:ext>
            </a:extLst>
          </p:cNvPr>
          <p:cNvSpPr/>
          <p:nvPr/>
        </p:nvSpPr>
        <p:spPr>
          <a:xfrm>
            <a:off x="16192500" y="4095750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权限管理</a:t>
            </a: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BAAAB7C-83A4-8F4A-D1EF-DF91897FF2CA}"/>
              </a:ext>
            </a:extLst>
          </p:cNvPr>
          <p:cNvCxnSpPr/>
          <p:nvPr/>
        </p:nvCxnSpPr>
        <p:spPr>
          <a:xfrm flipH="1">
            <a:off x="15906750" y="4267200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68066A76-D393-EC16-476D-147D61FDFF58}"/>
              </a:ext>
            </a:extLst>
          </p:cNvPr>
          <p:cNvSpPr/>
          <p:nvPr/>
        </p:nvSpPr>
        <p:spPr>
          <a:xfrm>
            <a:off x="16192500" y="5476875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数据加密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084B7FA3-E4C5-4067-9CC8-E358BC0DA208}"/>
              </a:ext>
            </a:extLst>
          </p:cNvPr>
          <p:cNvCxnSpPr/>
          <p:nvPr/>
        </p:nvCxnSpPr>
        <p:spPr>
          <a:xfrm flipH="1">
            <a:off x="15906750" y="564832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113E184E-9815-CCA5-28FD-B81EF89F84D1}"/>
              </a:ext>
            </a:extLst>
          </p:cNvPr>
          <p:cNvSpPr/>
          <p:nvPr/>
        </p:nvSpPr>
        <p:spPr>
          <a:xfrm>
            <a:off x="16192500" y="6619875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访问控制</a:t>
            </a: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4DA79772-502A-A56B-105A-E6130993DA7B}"/>
              </a:ext>
            </a:extLst>
          </p:cNvPr>
          <p:cNvCxnSpPr/>
          <p:nvPr/>
        </p:nvCxnSpPr>
        <p:spPr>
          <a:xfrm flipH="1">
            <a:off x="15906750" y="679132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FC24B402-8C1C-2EE8-EC93-895CCB59AB17}"/>
              </a:ext>
            </a:extLst>
          </p:cNvPr>
          <p:cNvSpPr/>
          <p:nvPr/>
        </p:nvSpPr>
        <p:spPr>
          <a:xfrm>
            <a:off x="16192500" y="7667625"/>
            <a:ext cx="1524000" cy="342900"/>
          </a:xfrm>
          <a:prstGeom prst="roundRect">
            <a:avLst/>
          </a:prstGeom>
          <a:solidFill>
            <a:srgbClr val="ECE4DB"/>
          </a:solidFill>
          <a:ln w="19050">
            <a:solidFill>
              <a:srgbClr val="8E9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日志溯源</a:t>
            </a: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58CC3E06-2488-5086-5A4C-3799816A2429}"/>
              </a:ext>
            </a:extLst>
          </p:cNvPr>
          <p:cNvCxnSpPr/>
          <p:nvPr/>
        </p:nvCxnSpPr>
        <p:spPr>
          <a:xfrm flipH="1">
            <a:off x="15906750" y="783907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B98373EB-7BBA-6137-67A4-AA5AEC006540}"/>
              </a:ext>
            </a:extLst>
          </p:cNvPr>
          <p:cNvCxnSpPr/>
          <p:nvPr/>
        </p:nvCxnSpPr>
        <p:spPr>
          <a:xfrm>
            <a:off x="8858250" y="1866900"/>
            <a:ext cx="0" cy="4667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E027386-70E5-5D80-F41B-9D46609BCCD1}"/>
              </a:ext>
            </a:extLst>
          </p:cNvPr>
          <p:cNvCxnSpPr/>
          <p:nvPr/>
        </p:nvCxnSpPr>
        <p:spPr>
          <a:xfrm>
            <a:off x="8858250" y="3248025"/>
            <a:ext cx="0" cy="4667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3B5B1A3A-88BD-58B0-DEF6-59899CA24300}"/>
              </a:ext>
            </a:extLst>
          </p:cNvPr>
          <p:cNvCxnSpPr/>
          <p:nvPr/>
        </p:nvCxnSpPr>
        <p:spPr>
          <a:xfrm>
            <a:off x="8858250" y="4572000"/>
            <a:ext cx="0" cy="6191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D48A3A2-946C-BD5E-29C5-F6DB7282E71E}"/>
              </a:ext>
            </a:extLst>
          </p:cNvPr>
          <p:cNvCxnSpPr/>
          <p:nvPr/>
        </p:nvCxnSpPr>
        <p:spPr>
          <a:xfrm>
            <a:off x="8858250" y="6238875"/>
            <a:ext cx="0" cy="190500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EA7289F6-B83C-56E3-74E6-842159828363}"/>
              </a:ext>
            </a:extLst>
          </p:cNvPr>
          <p:cNvCxnSpPr/>
          <p:nvPr/>
        </p:nvCxnSpPr>
        <p:spPr>
          <a:xfrm>
            <a:off x="8858250" y="7286625"/>
            <a:ext cx="0" cy="190500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1F85872-D2D3-B49A-032A-C66CC16D2442}"/>
              </a:ext>
            </a:extLst>
          </p:cNvPr>
          <p:cNvCxnSpPr/>
          <p:nvPr/>
        </p:nvCxnSpPr>
        <p:spPr>
          <a:xfrm flipV="1">
            <a:off x="10572750" y="7286625"/>
            <a:ext cx="0" cy="1905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935236B5-01F5-2B67-EB5B-D0DC5AD5AECD}"/>
              </a:ext>
            </a:extLst>
          </p:cNvPr>
          <p:cNvCxnSpPr/>
          <p:nvPr/>
        </p:nvCxnSpPr>
        <p:spPr>
          <a:xfrm flipV="1">
            <a:off x="10572750" y="6238875"/>
            <a:ext cx="0" cy="1905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871064F8-E672-1EAA-4681-88D7186370C7}"/>
              </a:ext>
            </a:extLst>
          </p:cNvPr>
          <p:cNvCxnSpPr/>
          <p:nvPr/>
        </p:nvCxnSpPr>
        <p:spPr>
          <a:xfrm flipV="1">
            <a:off x="10572750" y="4572000"/>
            <a:ext cx="0" cy="61912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D11557D-892B-F3A0-527B-9FE1DB8E8D45}"/>
              </a:ext>
            </a:extLst>
          </p:cNvPr>
          <p:cNvSpPr txBox="1"/>
          <p:nvPr/>
        </p:nvSpPr>
        <p:spPr>
          <a:xfrm>
            <a:off x="10648950" y="4643438"/>
            <a:ext cx="381000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zh-CN" altLang="en-US" sz="900">
                <a:solidFill>
                  <a:srgbClr val="8E9AAF"/>
                </a:solidFill>
                <a:latin typeface="Arial" panose="020B0604020202020204" pitchFamily="34" charset="0"/>
              </a:rPr>
              <a:t>模型
反馈</a:t>
            </a: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4426971C-2CF0-FA04-9199-7C263EC2E2A1}"/>
              </a:ext>
            </a:extLst>
          </p:cNvPr>
          <p:cNvCxnSpPr/>
          <p:nvPr/>
        </p:nvCxnSpPr>
        <p:spPr>
          <a:xfrm flipV="1">
            <a:off x="7143750" y="4572000"/>
            <a:ext cx="0" cy="619125"/>
          </a:xfrm>
          <a:prstGeom prst="straightConnector1">
            <a:avLst/>
          </a:prstGeom>
          <a:ln w="19050">
            <a:solidFill>
              <a:srgbClr val="AF9A8E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562C809-2E56-0650-EB47-0E33C38743DF}"/>
              </a:ext>
            </a:extLst>
          </p:cNvPr>
          <p:cNvSpPr txBox="1"/>
          <p:nvPr/>
        </p:nvSpPr>
        <p:spPr>
          <a:xfrm>
            <a:off x="6810375" y="4643438"/>
            <a:ext cx="285750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zh-CN" altLang="en-US" sz="900">
                <a:solidFill>
                  <a:srgbClr val="AF9A8E"/>
                </a:solidFill>
                <a:latin typeface="Arial" panose="020B0604020202020204" pitchFamily="34" charset="0"/>
              </a:rPr>
              <a:t>推理
结果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6E59658-EDD9-E72F-3773-3980E977B012}"/>
              </a:ext>
            </a:extLst>
          </p:cNvPr>
          <p:cNvSpPr txBox="1"/>
          <p:nvPr/>
        </p:nvSpPr>
        <p:spPr>
          <a:xfrm>
            <a:off x="0" y="10020300"/>
            <a:ext cx="18288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1100">
                <a:solidFill>
                  <a:srgbClr val="2D2D2D"/>
                </a:solidFill>
                <a:latin typeface="Arial" panose="020B0604020202020204" pitchFamily="34" charset="0"/>
              </a:rPr>
              <a:t>图 </a:t>
            </a:r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1  </a:t>
            </a:r>
            <a:r>
              <a:rPr lang="zh-CN" altLang="en-US" sz="1100">
                <a:solidFill>
                  <a:srgbClr val="2D2D2D"/>
                </a:solidFill>
                <a:latin typeface="Arial" panose="020B0604020202020204" pitchFamily="34" charset="0"/>
              </a:rPr>
              <a:t>智言大模型服务平台整体技术架构与数据流向示意图</a:t>
            </a:r>
          </a:p>
        </p:txBody>
      </p:sp>
    </p:spTree>
    <p:extLst>
      <p:ext uri="{BB962C8B-B14F-4D97-AF65-F5344CB8AC3E}">
        <p14:creationId xmlns:p14="http://schemas.microsoft.com/office/powerpoint/2010/main" val="22688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自定义</PresentationFormat>
  <Paragraphs>76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2026-04-12T06:33:49Z</dcterms:created>
  <dcterms:modified xsi:type="dcterms:W3CDTF">2026-04-12T06:33:49Z</dcterms:modified>
</cp:coreProperties>
</file>