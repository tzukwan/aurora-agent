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4384000" cy="1371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2" d="100"/>
          <a:sy n="52" d="100"/>
        </p:scale>
        <p:origin x="834" y="8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3B4ED-FD74-A039-FAE9-1ADA762FE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C86112-A590-0040-E58A-A6440A423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A2BEAC-390C-9133-9B85-EAA6DEEA1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040F-DE87-420E-81CC-B68DA426FF8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E7A528-C49E-8B12-208C-21F07728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47EEC3-9D5F-C546-009A-EA07F488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2E270-1A66-4AD2-AB4E-788A2205C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003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80BB6-FA6E-83A5-D7F8-2D321585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BB5F4A-487E-DB02-8E99-3805D2CAD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EED54-520B-231D-898E-5FEC90107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040F-DE87-420E-81CC-B68DA426FF8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AE7924-5AA2-1D6C-1C52-64B0DA3A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6E7D6C-2DFA-F216-A9F2-1C3B956E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2E270-1A66-4AD2-AB4E-788A2205C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22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D812F-00ED-B43A-17FB-C54E7B4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9"/>
            <a:ext cx="21031200" cy="57054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9F3B71-D635-EF0A-1676-13DAC8786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9"/>
            <a:ext cx="21031200" cy="30003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6D92FE-5728-1F21-7C2A-350D9A96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040F-DE87-420E-81CC-B68DA426FF8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09B8DD-1B5E-FF77-4D4C-7D1D1A89E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8CFBC-D446-686A-5527-193DD5D48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2E270-1A66-4AD2-AB4E-788A2205C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772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8791A3-FDB0-DD58-7F7E-AE7A9DEE1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C18FDF-0713-D253-E06F-FB60A7260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9146F7-46C0-271E-7D51-504BF538E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4F6326-AE8B-2A30-AEF8-892691F0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040F-DE87-420E-81CC-B68DA426FF8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0A947D-7D3B-67A4-C2B8-7ACF34B2D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100AB7-EB56-73F5-964B-B7872C190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2E270-1A66-4AD2-AB4E-788A2205C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893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311F4-72F7-8F7E-C2CA-9CD21DC2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3"/>
            <a:ext cx="21031200" cy="2651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62CBC2-4721-5266-8005-BCA87E23E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3437F5-1A9F-BB60-9F29-91CE9EE97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148169-8F64-6D37-24F7-510893C459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78A1CF-1BEB-EA5F-09AD-33C11F0768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BDFCAD-F93A-613F-FF1D-EB07E737A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040F-DE87-420E-81CC-B68DA426FF8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05852E-9381-9E98-BD08-0EE6E0735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124C0AC-82DC-348E-342A-48BEA4CE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2E270-1A66-4AD2-AB4E-788A2205C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96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455DAC-FB8A-7A1E-BE26-41ADB253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135A5F-31E9-5E1F-35BF-0C9C4262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040F-DE87-420E-81CC-B68DA426FF8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5EA8C8-622F-401A-9C3A-140BB6225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D8BD59-35F7-14D9-B5D9-E4670201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2E270-1A66-4AD2-AB4E-788A2205C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6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C86FF4-DEA8-02D6-7D63-BB0686116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040F-DE87-420E-81CC-B68DA426FF8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6D52BC-BE6A-939A-CE33-EF9D6B523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B58C93-2BFE-D564-D4BB-EC590A695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2E270-1A66-4AD2-AB4E-788A2205C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088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E43B3-A93A-1799-5060-D6F8F108E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DB12A2-6ECD-9F38-2A5E-1D342D62B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1F9D57-C714-5EF0-BE4D-3091F6DE3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0145B7-4AE7-E0E7-AC06-F66211647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040F-DE87-420E-81CC-B68DA426FF8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9F2F12-CAEE-2DF0-C042-89C8E40EF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1045B3-EA57-A914-D22A-4CD04E875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2E270-1A66-4AD2-AB4E-788A2205C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252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F97C8-14D0-C6F8-ABA5-BD7AE34FC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DC11C0-FE43-2668-30EC-060DA7AB99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26CB9A-30CB-0241-AFFE-4AFDCB12C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B0F127-61EA-C2AC-55EF-A8CE3ED16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040F-DE87-420E-81CC-B68DA426FF8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CDA881-FF0B-750E-E581-976361258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0CD7B2-BD92-51AF-F606-C44E899A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2E270-1A66-4AD2-AB4E-788A2205C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28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6BECE-C74A-00B4-B7B3-F0651AA82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BC74BC-2EE6-D8F0-B8E9-22EAECA52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866B99-1B46-1954-7B1C-9B536259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040F-DE87-420E-81CC-B68DA426FF8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5F71AD-1476-399F-B015-840DBA86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4168C-3558-D6FE-CDE2-BEFB5DD3D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2E270-1A66-4AD2-AB4E-788A2205C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43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C7D1FD-E2AC-FF78-87AC-98A75EEBFB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58E2C2-CDB3-89B9-4D93-B28CF7D00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FD7EA-831F-E2AF-C0CB-0423647E0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040F-DE87-420E-81CC-B68DA426FF8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EB8E96-90F0-BCF8-B8B2-A57C4F7D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BB4160-7EBE-06E8-01AF-C3FF9173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2E270-1A66-4AD2-AB4E-788A2205C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97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标题，图表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A0176-A5D1-D6C6-22EF-689898F3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C5F8C830-089E-0FCB-F6CA-C8D7D4589FEA}"/>
              </a:ext>
            </a:extLst>
          </p:cNvPr>
          <p:cNvSpPr>
            <a:spLocks noGrp="1"/>
          </p:cNvSpPr>
          <p:nvPr>
            <p:ph type="chart" sz="half" idx="1"/>
          </p:nvPr>
        </p:nvSpPr>
        <p:spPr>
          <a:xfrm>
            <a:off x="1676400" y="3651250"/>
            <a:ext cx="10439400" cy="87026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311A14-2490-D2B3-4DA8-04E03736F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68200" y="3651250"/>
            <a:ext cx="10439400" cy="8702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0FA874-611D-90A6-75F8-A1890A56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2040F-DE87-420E-81CC-B68DA426FF8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94EB96-2871-CB5F-47C0-9258D6BAA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0C218F-BA06-7A5F-690D-8132F6D3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2E270-1A66-4AD2-AB4E-788A2205C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76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6D4368A-2D30-A4C7-9848-18A2232DA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3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EE279F-7588-D2A8-F0AC-7B996B71C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7FE729-CEEC-4213-1A4B-8C1902EEF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2040F-DE87-420E-81CC-B68DA426FF8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156543-267D-B36E-987D-D667B8CEF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0E34CF-47BC-87C0-59B1-94816FD1B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2E270-1A66-4AD2-AB4E-788A2205C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214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229AD28-A584-25D3-632A-0C3222028DBC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EB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97D2BA5-ED9A-D7AC-3065-0D83DABBD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70B49855-E977-D22E-08FD-DFC097FC00CD}"/>
              </a:ext>
            </a:extLst>
          </p:cNvPr>
          <p:cNvSpPr>
            <a:spLocks noGrp="1"/>
          </p:cNvSpPr>
          <p:nvPr>
            <p:ph type="chart" sz="half" idx="1"/>
          </p:nvPr>
        </p:nvSpPr>
        <p:spPr/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7213AA-8C88-A010-1014-EF9CCB4E5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笑脸 5">
            <a:extLst>
              <a:ext uri="{FF2B5EF4-FFF2-40B4-BE49-F238E27FC236}">
                <a16:creationId xmlns:a16="http://schemas.microsoft.com/office/drawing/2014/main" id="{E60AE6F4-25AA-CBAD-57ED-133DC5000E48}"/>
              </a:ext>
            </a:extLst>
          </p:cNvPr>
          <p:cNvSpPr/>
          <p:nvPr/>
        </p:nvSpPr>
        <p:spPr>
          <a:xfrm>
            <a:off x="0" y="171450"/>
            <a:ext cx="24384000" cy="3810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2800" b="1">
                <a:solidFill>
                  <a:srgbClr val="2D2D2D"/>
                </a:solidFill>
                <a:latin typeface="Arial" panose="020B0604020202020204" pitchFamily="34" charset="0"/>
              </a:rPr>
              <a:t>市场竞争格局与战略定位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AA160BA-6323-BF0C-E160-4E37E9A88B32}"/>
              </a:ext>
            </a:extLst>
          </p:cNvPr>
          <p:cNvCxnSpPr/>
          <p:nvPr/>
        </p:nvCxnSpPr>
        <p:spPr>
          <a:xfrm>
            <a:off x="1905000" y="11620500"/>
            <a:ext cx="20574000" cy="0"/>
          </a:xfrm>
          <a:prstGeom prst="straightConnector1">
            <a:avLst/>
          </a:prstGeom>
          <a:ln w="25400">
            <a:solidFill>
              <a:srgbClr val="2D2D2D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BDD83D4-7272-6629-5CF4-8CCFE409E02D}"/>
              </a:ext>
            </a:extLst>
          </p:cNvPr>
          <p:cNvCxnSpPr/>
          <p:nvPr/>
        </p:nvCxnSpPr>
        <p:spPr>
          <a:xfrm flipV="1">
            <a:off x="1905000" y="762000"/>
            <a:ext cx="0" cy="10858500"/>
          </a:xfrm>
          <a:prstGeom prst="straightConnector1">
            <a:avLst/>
          </a:prstGeom>
          <a:ln w="25400">
            <a:solidFill>
              <a:srgbClr val="2D2D2D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笑脸 8">
            <a:extLst>
              <a:ext uri="{FF2B5EF4-FFF2-40B4-BE49-F238E27FC236}">
                <a16:creationId xmlns:a16="http://schemas.microsoft.com/office/drawing/2014/main" id="{0E47E050-2C71-F2CC-02D2-5D9822B95059}"/>
              </a:ext>
            </a:extLst>
          </p:cNvPr>
          <p:cNvSpPr/>
          <p:nvPr/>
        </p:nvSpPr>
        <p:spPr>
          <a:xfrm>
            <a:off x="11239500" y="11763375"/>
            <a:ext cx="1905000" cy="28575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400" b="1">
                <a:solidFill>
                  <a:srgbClr val="2D2D2D"/>
                </a:solidFill>
                <a:latin typeface="Arial" panose="020B0604020202020204" pitchFamily="34" charset="0"/>
              </a:rPr>
              <a:t>技术能力 →</a:t>
            </a:r>
          </a:p>
        </p:txBody>
      </p:sp>
      <p:sp>
        <p:nvSpPr>
          <p:cNvPr id="10" name="笑脸 9">
            <a:extLst>
              <a:ext uri="{FF2B5EF4-FFF2-40B4-BE49-F238E27FC236}">
                <a16:creationId xmlns:a16="http://schemas.microsoft.com/office/drawing/2014/main" id="{3D7AE0F2-578E-08DF-FF53-28606780F8E6}"/>
              </a:ext>
            </a:extLst>
          </p:cNvPr>
          <p:cNvSpPr/>
          <p:nvPr/>
        </p:nvSpPr>
        <p:spPr>
          <a:xfrm>
            <a:off x="571500" y="5619750"/>
            <a:ext cx="1143000" cy="11430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400" b="1">
                <a:solidFill>
                  <a:srgbClr val="2D2D2D"/>
                </a:solidFill>
                <a:latin typeface="Arial" panose="020B0604020202020204" pitchFamily="34" charset="0"/>
              </a:rPr>
              <a:t>行
业
垂
直
度
↑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ABB41F1-6E61-1102-6F90-66D2D77C1F4E}"/>
              </a:ext>
            </a:extLst>
          </p:cNvPr>
          <p:cNvCxnSpPr/>
          <p:nvPr/>
        </p:nvCxnSpPr>
        <p:spPr>
          <a:xfrm flipV="1">
            <a:off x="6019800" y="762000"/>
            <a:ext cx="0" cy="10858500"/>
          </a:xfrm>
          <a:prstGeom prst="straightConnector1">
            <a:avLst/>
          </a:prstGeom>
          <a:ln w="1905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8AFD6FE-601D-2D8B-5E7B-69B6FA4EB9E6}"/>
              </a:ext>
            </a:extLst>
          </p:cNvPr>
          <p:cNvCxnSpPr/>
          <p:nvPr/>
        </p:nvCxnSpPr>
        <p:spPr>
          <a:xfrm>
            <a:off x="1905000" y="9448800"/>
            <a:ext cx="20574000" cy="0"/>
          </a:xfrm>
          <a:prstGeom prst="straightConnector1">
            <a:avLst/>
          </a:prstGeom>
          <a:ln w="1905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0EAD934-76B1-3216-EC1A-A77987727DBA}"/>
              </a:ext>
            </a:extLst>
          </p:cNvPr>
          <p:cNvCxnSpPr/>
          <p:nvPr/>
        </p:nvCxnSpPr>
        <p:spPr>
          <a:xfrm flipV="1">
            <a:off x="10134600" y="762000"/>
            <a:ext cx="0" cy="10858500"/>
          </a:xfrm>
          <a:prstGeom prst="straightConnector1">
            <a:avLst/>
          </a:prstGeom>
          <a:ln w="1905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A5A4A8D-79EC-C8C5-5A08-0BF52D7F4B65}"/>
              </a:ext>
            </a:extLst>
          </p:cNvPr>
          <p:cNvCxnSpPr/>
          <p:nvPr/>
        </p:nvCxnSpPr>
        <p:spPr>
          <a:xfrm>
            <a:off x="1905000" y="7277100"/>
            <a:ext cx="20574000" cy="0"/>
          </a:xfrm>
          <a:prstGeom prst="straightConnector1">
            <a:avLst/>
          </a:prstGeom>
          <a:ln w="1905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B84B404-1DCB-EA82-DEED-CE0EBB9B5810}"/>
              </a:ext>
            </a:extLst>
          </p:cNvPr>
          <p:cNvCxnSpPr/>
          <p:nvPr/>
        </p:nvCxnSpPr>
        <p:spPr>
          <a:xfrm flipV="1">
            <a:off x="14249400" y="762000"/>
            <a:ext cx="0" cy="10858500"/>
          </a:xfrm>
          <a:prstGeom prst="straightConnector1">
            <a:avLst/>
          </a:prstGeom>
          <a:ln w="1905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C097A30-BB02-698F-5314-721B0D7FE880}"/>
              </a:ext>
            </a:extLst>
          </p:cNvPr>
          <p:cNvCxnSpPr/>
          <p:nvPr/>
        </p:nvCxnSpPr>
        <p:spPr>
          <a:xfrm>
            <a:off x="1905000" y="5105400"/>
            <a:ext cx="20574000" cy="0"/>
          </a:xfrm>
          <a:prstGeom prst="straightConnector1">
            <a:avLst/>
          </a:prstGeom>
          <a:ln w="1905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0C2EA91-2610-92A3-183C-5FE05B16D777}"/>
              </a:ext>
            </a:extLst>
          </p:cNvPr>
          <p:cNvCxnSpPr/>
          <p:nvPr/>
        </p:nvCxnSpPr>
        <p:spPr>
          <a:xfrm flipV="1">
            <a:off x="18364200" y="762000"/>
            <a:ext cx="0" cy="10858500"/>
          </a:xfrm>
          <a:prstGeom prst="straightConnector1">
            <a:avLst/>
          </a:prstGeom>
          <a:ln w="1905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DDC3029-D488-4135-7B64-6608BE0063BB}"/>
              </a:ext>
            </a:extLst>
          </p:cNvPr>
          <p:cNvCxnSpPr/>
          <p:nvPr/>
        </p:nvCxnSpPr>
        <p:spPr>
          <a:xfrm>
            <a:off x="1905000" y="2933700"/>
            <a:ext cx="20574000" cy="0"/>
          </a:xfrm>
          <a:prstGeom prst="straightConnector1">
            <a:avLst/>
          </a:prstGeom>
          <a:ln w="19050" cap="sq">
            <a:solidFill>
              <a:srgbClr val="DDDDDD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6632BF0B-DA7A-867E-738C-90BA9CEA7B36}"/>
              </a:ext>
            </a:extLst>
          </p:cNvPr>
          <p:cNvSpPr/>
          <p:nvPr/>
        </p:nvSpPr>
        <p:spPr>
          <a:xfrm>
            <a:off x="18078450" y="2105025"/>
            <a:ext cx="571500" cy="571500"/>
          </a:xfrm>
          <a:prstGeom prst="ellipse">
            <a:avLst/>
          </a:prstGeom>
          <a:solidFill>
            <a:srgbClr val="AF9A8E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智言科技</a:t>
            </a:r>
          </a:p>
        </p:txBody>
      </p:sp>
      <p:sp>
        <p:nvSpPr>
          <p:cNvPr id="20" name="笑脸 19">
            <a:extLst>
              <a:ext uri="{FF2B5EF4-FFF2-40B4-BE49-F238E27FC236}">
                <a16:creationId xmlns:a16="http://schemas.microsoft.com/office/drawing/2014/main" id="{C77FFAF5-DAAC-190E-DD30-F2693406955D}"/>
              </a:ext>
            </a:extLst>
          </p:cNvPr>
          <p:cNvSpPr/>
          <p:nvPr/>
        </p:nvSpPr>
        <p:spPr>
          <a:xfrm>
            <a:off x="17792700" y="2733675"/>
            <a:ext cx="1143000" cy="3810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细分领域
轻量化方案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5B601A0-5516-15A6-68C9-0F141361AB95}"/>
              </a:ext>
            </a:extLst>
          </p:cNvPr>
          <p:cNvSpPr/>
          <p:nvPr/>
        </p:nvSpPr>
        <p:spPr>
          <a:xfrm>
            <a:off x="20040600" y="6896100"/>
            <a:ext cx="762000" cy="762000"/>
          </a:xfrm>
          <a:prstGeom prst="ellipse">
            <a:avLst/>
          </a:prstGeom>
          <a:solidFill>
            <a:srgbClr val="A5A5A5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头部云厂商</a:t>
            </a:r>
          </a:p>
        </p:txBody>
      </p:sp>
      <p:sp>
        <p:nvSpPr>
          <p:cNvPr id="22" name="笑脸 21">
            <a:extLst>
              <a:ext uri="{FF2B5EF4-FFF2-40B4-BE49-F238E27FC236}">
                <a16:creationId xmlns:a16="http://schemas.microsoft.com/office/drawing/2014/main" id="{726242E8-7966-950B-CCF7-5C2943CE8A8A}"/>
              </a:ext>
            </a:extLst>
          </p:cNvPr>
          <p:cNvSpPr/>
          <p:nvPr/>
        </p:nvSpPr>
        <p:spPr>
          <a:xfrm>
            <a:off x="19659600" y="7715250"/>
            <a:ext cx="1524000" cy="3810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通用平台
生态壁垒高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77666D2-AB97-0662-D567-30B0EE03B8F2}"/>
              </a:ext>
            </a:extLst>
          </p:cNvPr>
          <p:cNvSpPr/>
          <p:nvPr/>
        </p:nvSpPr>
        <p:spPr>
          <a:xfrm>
            <a:off x="12982575" y="3238500"/>
            <a:ext cx="476250" cy="476250"/>
          </a:xfrm>
          <a:prstGeom prst="ellipse">
            <a:avLst/>
          </a:prstGeom>
          <a:solidFill>
            <a:srgbClr val="A4B7B7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垂直初创公司</a:t>
            </a:r>
            <a:r>
              <a:rPr lang="en-US" altLang="zh-CN" sz="1100" b="1">
                <a:solidFill>
                  <a:srgbClr val="FFFFFF"/>
                </a:solidFill>
                <a:latin typeface="Arial" panose="020B0604020202020204" pitchFamily="34" charset="0"/>
              </a:rPr>
              <a:t>A</a:t>
            </a:r>
            <a:endParaRPr lang="zh-CN" altLang="en-US" sz="1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笑脸 23">
            <a:extLst>
              <a:ext uri="{FF2B5EF4-FFF2-40B4-BE49-F238E27FC236}">
                <a16:creationId xmlns:a16="http://schemas.microsoft.com/office/drawing/2014/main" id="{A5A01D4F-8794-125D-B3D1-1C953325655A}"/>
              </a:ext>
            </a:extLst>
          </p:cNvPr>
          <p:cNvSpPr/>
          <p:nvPr/>
        </p:nvSpPr>
        <p:spPr>
          <a:xfrm>
            <a:off x="12744450" y="3771900"/>
            <a:ext cx="952500" cy="3810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垂直深耕
品牌弱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AD993B98-203A-B908-9677-E848B27A9F2F}"/>
              </a:ext>
            </a:extLst>
          </p:cNvPr>
          <p:cNvSpPr/>
          <p:nvPr/>
        </p:nvSpPr>
        <p:spPr>
          <a:xfrm>
            <a:off x="9920288" y="4891088"/>
            <a:ext cx="428625" cy="428625"/>
          </a:xfrm>
          <a:prstGeom prst="ellipse">
            <a:avLst/>
          </a:prstGeom>
          <a:solidFill>
            <a:srgbClr val="A4B7B7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垂直初创公司</a:t>
            </a:r>
            <a:r>
              <a:rPr lang="en-US" altLang="zh-CN" sz="1100" b="1">
                <a:solidFill>
                  <a:srgbClr val="FFFFFF"/>
                </a:solidFill>
                <a:latin typeface="Arial" panose="020B0604020202020204" pitchFamily="34" charset="0"/>
              </a:rPr>
              <a:t>B</a:t>
            </a:r>
            <a:endParaRPr lang="zh-CN" altLang="en-US" sz="1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" name="笑脸 25">
            <a:extLst>
              <a:ext uri="{FF2B5EF4-FFF2-40B4-BE49-F238E27FC236}">
                <a16:creationId xmlns:a16="http://schemas.microsoft.com/office/drawing/2014/main" id="{72D8C5E2-958F-22B0-B830-02D012BF3ABE}"/>
              </a:ext>
            </a:extLst>
          </p:cNvPr>
          <p:cNvSpPr/>
          <p:nvPr/>
        </p:nvSpPr>
        <p:spPr>
          <a:xfrm>
            <a:off x="9705975" y="5376863"/>
            <a:ext cx="857250" cy="3810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垂直深耕
渠道弱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E080ED95-E734-0AC0-9702-C55F4A3EFF32}"/>
              </a:ext>
            </a:extLst>
          </p:cNvPr>
          <p:cNvSpPr/>
          <p:nvPr/>
        </p:nvSpPr>
        <p:spPr>
          <a:xfrm>
            <a:off x="9872663" y="8643938"/>
            <a:ext cx="523875" cy="523875"/>
          </a:xfrm>
          <a:prstGeom prst="ellipse">
            <a:avLst/>
          </a:prstGeom>
          <a:solidFill>
            <a:srgbClr val="92A3A2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开源集成商</a:t>
            </a:r>
          </a:p>
        </p:txBody>
      </p:sp>
      <p:sp>
        <p:nvSpPr>
          <p:cNvPr id="28" name="笑脸 27">
            <a:extLst>
              <a:ext uri="{FF2B5EF4-FFF2-40B4-BE49-F238E27FC236}">
                <a16:creationId xmlns:a16="http://schemas.microsoft.com/office/drawing/2014/main" id="{C018743A-1555-1061-F7C7-8DD591B5839A}"/>
              </a:ext>
            </a:extLst>
          </p:cNvPr>
          <p:cNvSpPr/>
          <p:nvPr/>
        </p:nvSpPr>
        <p:spPr>
          <a:xfrm>
            <a:off x="9610725" y="9224963"/>
            <a:ext cx="1047750" cy="3810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灵活低成本
维护门槛高</a:t>
            </a:r>
          </a:p>
        </p:txBody>
      </p:sp>
      <p:sp>
        <p:nvSpPr>
          <p:cNvPr id="29" name="笑脸 28">
            <a:extLst>
              <a:ext uri="{FF2B5EF4-FFF2-40B4-BE49-F238E27FC236}">
                <a16:creationId xmlns:a16="http://schemas.microsoft.com/office/drawing/2014/main" id="{565FBB25-0A57-644F-902D-70AC2D9E6203}"/>
              </a:ext>
            </a:extLst>
          </p:cNvPr>
          <p:cNvSpPr/>
          <p:nvPr/>
        </p:nvSpPr>
        <p:spPr>
          <a:xfrm>
            <a:off x="16764000" y="2295525"/>
            <a:ext cx="1143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AF9A8E"/>
                </a:solidFill>
                <a:latin typeface="Arial" panose="020B0604020202020204" pitchFamily="34" charset="0"/>
              </a:rPr>
              <a:t>差异化竞争区</a:t>
            </a:r>
          </a:p>
        </p:txBody>
      </p:sp>
      <p:sp>
        <p:nvSpPr>
          <p:cNvPr id="30" name="笑脸 29">
            <a:extLst>
              <a:ext uri="{FF2B5EF4-FFF2-40B4-BE49-F238E27FC236}">
                <a16:creationId xmlns:a16="http://schemas.microsoft.com/office/drawing/2014/main" id="{682AC338-4147-883B-50A4-C773FA7140BE}"/>
              </a:ext>
            </a:extLst>
          </p:cNvPr>
          <p:cNvSpPr/>
          <p:nvPr/>
        </p:nvSpPr>
        <p:spPr>
          <a:xfrm>
            <a:off x="16764000" y="7724775"/>
            <a:ext cx="1143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AF9A8E"/>
                </a:solidFill>
                <a:latin typeface="Arial" panose="020B0604020202020204" pitchFamily="34" charset="0"/>
              </a:rPr>
              <a:t>技术领先区</a:t>
            </a:r>
          </a:p>
        </p:txBody>
      </p:sp>
      <p:sp>
        <p:nvSpPr>
          <p:cNvPr id="31" name="笑脸 30">
            <a:extLst>
              <a:ext uri="{FF2B5EF4-FFF2-40B4-BE49-F238E27FC236}">
                <a16:creationId xmlns:a16="http://schemas.microsoft.com/office/drawing/2014/main" id="{1CBA6D64-D80C-09B5-B1F8-9AF2BC743CC4}"/>
              </a:ext>
            </a:extLst>
          </p:cNvPr>
          <p:cNvSpPr/>
          <p:nvPr/>
        </p:nvSpPr>
        <p:spPr>
          <a:xfrm>
            <a:off x="6477000" y="2295525"/>
            <a:ext cx="1143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AF9A8E"/>
                </a:solidFill>
                <a:latin typeface="Arial" panose="020B0604020202020204" pitchFamily="34" charset="0"/>
              </a:rPr>
              <a:t>垂直深耕区</a:t>
            </a:r>
          </a:p>
        </p:txBody>
      </p:sp>
      <p:sp>
        <p:nvSpPr>
          <p:cNvPr id="32" name="笑脸 31">
            <a:extLst>
              <a:ext uri="{FF2B5EF4-FFF2-40B4-BE49-F238E27FC236}">
                <a16:creationId xmlns:a16="http://schemas.microsoft.com/office/drawing/2014/main" id="{04F19DCE-9E3F-7AB1-5EEA-E9BD39D72470}"/>
              </a:ext>
            </a:extLst>
          </p:cNvPr>
          <p:cNvSpPr/>
          <p:nvPr/>
        </p:nvSpPr>
        <p:spPr>
          <a:xfrm>
            <a:off x="6477000" y="7724775"/>
            <a:ext cx="1143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AF9A8E"/>
                </a:solidFill>
                <a:latin typeface="Arial" panose="020B0604020202020204" pitchFamily="34" charset="0"/>
              </a:rPr>
              <a:t>基础服务区</a:t>
            </a:r>
          </a:p>
        </p:txBody>
      </p:sp>
      <p:sp>
        <p:nvSpPr>
          <p:cNvPr id="33" name="笑脸 32">
            <a:extLst>
              <a:ext uri="{FF2B5EF4-FFF2-40B4-BE49-F238E27FC236}">
                <a16:creationId xmlns:a16="http://schemas.microsoft.com/office/drawing/2014/main" id="{E3A7AF38-A5A7-0DCF-9334-7F6DE73C57A1}"/>
              </a:ext>
            </a:extLst>
          </p:cNvPr>
          <p:cNvSpPr/>
          <p:nvPr/>
        </p:nvSpPr>
        <p:spPr>
          <a:xfrm>
            <a:off x="0" y="13449300"/>
            <a:ext cx="24384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100">
                <a:solidFill>
                  <a:srgbClr val="2D2D2D"/>
                </a:solidFill>
                <a:latin typeface="Arial" panose="020B0604020202020204" pitchFamily="34" charset="0"/>
              </a:rPr>
              <a:t>Figure 6  Competitive Landscape and Strategic Positioning</a:t>
            </a:r>
            <a:endParaRPr lang="zh-CN" altLang="en-US" sz="11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7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自定义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佳琪 陈</dc:creator>
  <cp:lastModifiedBy>佳琪 陈</cp:lastModifiedBy>
  <cp:revision>1</cp:revision>
  <dcterms:created xsi:type="dcterms:W3CDTF">2026-04-12T06:54:09Z</dcterms:created>
  <dcterms:modified xsi:type="dcterms:W3CDTF">2026-04-12T06:54:09Z</dcterms:modified>
</cp:coreProperties>
</file>