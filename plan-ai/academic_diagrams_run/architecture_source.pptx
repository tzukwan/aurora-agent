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384000" cy="13716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2" d="100"/>
          <a:sy n="52" d="100"/>
        </p:scale>
        <p:origin x="834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093BC-D0F1-DB1C-173B-F19B481B2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E1F510-1B06-206B-4415-021125E00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2F2F61-1D9E-7ADC-D336-ECE84CB49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15AF93-C8C7-D3E3-D5E7-8FB9371B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625AE3-7616-78E9-1126-6666D2339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1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EB942-5B5D-7C72-24FA-5BC9B4FC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9BD91-7985-1C5E-A7E5-11B240F3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4FB128-4AEE-90BB-7951-3A7C1486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7C6295-0F58-10AC-33D4-0DD4E7D6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45AEB-D272-0D07-ABE6-91AAFCCD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27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6549-131B-4399-64CB-F5D2FDCD3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D45B87-D9E0-C66F-4509-4AB3D67A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5CD5C0-D4CA-62C8-499D-4990B1C0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481929-9931-363D-50CA-C8BDF8EF4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4707CE-B7CF-50BD-875F-F8D98F4A1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79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C02E3-1E13-7A1B-F87B-05E8AA76C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FB3FF-933B-A41C-35BA-E6200666F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1DE446-B86C-6BBF-09C2-44861D7247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9FEA3-6E84-9ABA-1BFF-AA7B5410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08D33B-AA18-B8DC-86A6-C47F15D3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008D07-74CD-8723-8596-351687E4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898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3BB62-5454-B765-3C85-43EB9D2E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9EED09-DFDA-2FD4-E8B3-320FB3CE3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B1D0F60-7CE9-64FA-FEFC-5982C8125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A8D51-969B-594D-70A1-B36B87042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672573-2070-2631-A7BC-44ABFBE7D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12B9E5-8687-FAC4-4E8E-D6CD99EF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1FB4AD-5B52-C1F3-4F2B-1BED9818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859B99-4E6D-F533-A6AE-310A4D0D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21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1FBA6-F748-EC66-31C7-BDA70F52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1139FC-CF81-C8CC-8C4D-2A7BDD91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F2D0AC-29DC-8B88-1A8E-774C7463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38731E-266B-296C-4591-1E45F156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00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E95530-5893-8E8F-BEFC-132047601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305AC5E-B06F-3843-E501-1E890BB0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BB6C2F-0D07-2F21-6548-92B9681D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07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15B42-89A7-7F12-23F1-46E2A138E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1CC9D3-2CB4-0AAC-5844-AD51E022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C96279-3B20-3CF8-8201-5DBBAB3F2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F6951A-C5A8-D5B1-6F54-586FE425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526C72-E538-9D42-7D3E-BD9F23226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24EF25-0D22-465A-66AB-BF22757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108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742D1-7E2B-A46B-7C61-611C9CC5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91834C-C556-BF81-ECC2-01C6B834B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A81026-9590-FE0B-5289-844394BE3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DE7B2C-0F3E-3373-B35D-9B33B763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0F0871-E207-2031-7EED-17B3FD79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2CE7B0-80FF-DE0A-D809-DF215169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83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E711F-C05A-2F95-28FC-9BB755B8D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0AF7AA-AAB3-D81D-C776-6D07A3FFB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1C92B-AD52-721D-466B-C0FD78AC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BACC12-9F8C-9780-8D54-552D13E5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B3EA38-E018-F0A8-90E7-DCE89B31A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48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1DEAAE-BCEF-F600-8C9D-75DCD5DA9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BC4F30-A6D0-3E4B-4601-161417986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9E1D17-7D6F-9103-76B5-3874EDFD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B8D5F-249A-BAAF-95A3-E97D15C5D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BDA76-19BA-0A04-FB07-D37D4940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16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AndTx" preserve="1">
  <p:cSld name="标题，图表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3B765-05B4-711F-052D-9C704976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0540C913-C61D-3D57-CF9B-CE61349AF6D9}"/>
              </a:ext>
            </a:extLst>
          </p:cNvPr>
          <p:cNvSpPr>
            <a:spLocks noGrp="1"/>
          </p:cNvSpPr>
          <p:nvPr>
            <p:ph type="chart" sz="half" idx="1"/>
          </p:nvPr>
        </p:nvSpPr>
        <p:spPr>
          <a:xfrm>
            <a:off x="1676400" y="3651250"/>
            <a:ext cx="10439400" cy="87026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9852F6-01EE-4966-E90E-938A4AD27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68200" y="3651250"/>
            <a:ext cx="10439400" cy="8702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02CBD9-51E2-4E48-06EC-676294DA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94D2DA-AD54-1CCD-B232-2991E96D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32725-71F3-EBC3-4D35-C53C82CC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947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0D8A82-F6B8-5994-3570-33179242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177E49-72C8-4937-760A-EC4BC3A32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11326-BFF1-ACEF-7B72-71A3503B7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7A200-5EE9-47B6-BC42-02ADFACFB4B4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1564B-9611-0A3D-A0FE-DF9FE0648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436DF4-C9C6-E3F1-734F-B7A7FC69E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30E6B-8571-4EB3-BA54-FD6FA8E8AE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767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C3E53EA-07B1-2541-DBDA-83D71235AE30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EBED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2A7DBA-00C1-7F3D-A41A-9434382ED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图表占位符 2">
            <a:extLst>
              <a:ext uri="{FF2B5EF4-FFF2-40B4-BE49-F238E27FC236}">
                <a16:creationId xmlns:a16="http://schemas.microsoft.com/office/drawing/2014/main" id="{8C8C36AB-69C3-2844-60C0-4CEF8A9E19F4}"/>
              </a:ext>
            </a:extLst>
          </p:cNvPr>
          <p:cNvSpPr>
            <a:spLocks noGrp="1"/>
          </p:cNvSpPr>
          <p:nvPr>
            <p:ph type="chart" sz="half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7F8F11-5EE0-52E9-2006-F94BF9D5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笑脸 5">
            <a:extLst>
              <a:ext uri="{FF2B5EF4-FFF2-40B4-BE49-F238E27FC236}">
                <a16:creationId xmlns:a16="http://schemas.microsoft.com/office/drawing/2014/main" id="{6F5051EB-3FDE-DD37-3AF9-FEC5CBC1DCE3}"/>
              </a:ext>
            </a:extLst>
          </p:cNvPr>
          <p:cNvSpPr/>
          <p:nvPr/>
        </p:nvSpPr>
        <p:spPr>
          <a:xfrm>
            <a:off x="0" y="171450"/>
            <a:ext cx="24384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2800" b="1">
                <a:solidFill>
                  <a:srgbClr val="2D2D2D"/>
                </a:solidFill>
                <a:latin typeface="Arial" panose="020B0604020202020204" pitchFamily="34" charset="0"/>
              </a:rPr>
              <a:t>技术架构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2E36A6-2572-220F-171E-52C80DC1318E}"/>
              </a:ext>
            </a:extLst>
          </p:cNvPr>
          <p:cNvSpPr/>
          <p:nvPr/>
        </p:nvSpPr>
        <p:spPr>
          <a:xfrm>
            <a:off x="21907500" y="666750"/>
            <a:ext cx="152400" cy="95250"/>
          </a:xfrm>
          <a:prstGeom prst="rect">
            <a:avLst/>
          </a:prstGeom>
          <a:solidFill>
            <a:srgbClr val="AF9A8E"/>
          </a:solidFill>
          <a:ln w="1270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笑脸 7">
            <a:extLst>
              <a:ext uri="{FF2B5EF4-FFF2-40B4-BE49-F238E27FC236}">
                <a16:creationId xmlns:a16="http://schemas.microsoft.com/office/drawing/2014/main" id="{72F5544C-A4FD-6E32-5794-BBF2C03866F0}"/>
              </a:ext>
            </a:extLst>
          </p:cNvPr>
          <p:cNvSpPr/>
          <p:nvPr/>
        </p:nvSpPr>
        <p:spPr>
          <a:xfrm>
            <a:off x="22098000" y="647700"/>
            <a:ext cx="762000" cy="1333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Data Flow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79A75B-CFA3-9074-2362-875F2B0B82C4}"/>
              </a:ext>
            </a:extLst>
          </p:cNvPr>
          <p:cNvCxnSpPr/>
          <p:nvPr/>
        </p:nvCxnSpPr>
        <p:spPr>
          <a:xfrm>
            <a:off x="21907500" y="857250"/>
            <a:ext cx="1524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笑脸 9">
            <a:extLst>
              <a:ext uri="{FF2B5EF4-FFF2-40B4-BE49-F238E27FC236}">
                <a16:creationId xmlns:a16="http://schemas.microsoft.com/office/drawing/2014/main" id="{06F12617-1A30-EBFE-1B66-93C1966A853D}"/>
              </a:ext>
            </a:extLst>
          </p:cNvPr>
          <p:cNvSpPr/>
          <p:nvPr/>
        </p:nvSpPr>
        <p:spPr>
          <a:xfrm>
            <a:off x="22098000" y="838200"/>
            <a:ext cx="762000" cy="13335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Control Flow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2703FD-5BAB-D10D-212B-140BE9B18FD4}"/>
              </a:ext>
            </a:extLst>
          </p:cNvPr>
          <p:cNvSpPr/>
          <p:nvPr/>
        </p:nvSpPr>
        <p:spPr>
          <a:xfrm>
            <a:off x="1809750" y="857250"/>
            <a:ext cx="20764500" cy="1381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笑脸 11">
            <a:extLst>
              <a:ext uri="{FF2B5EF4-FFF2-40B4-BE49-F238E27FC236}">
                <a16:creationId xmlns:a16="http://schemas.microsoft.com/office/drawing/2014/main" id="{476B6507-740B-2487-8C94-E170C4E4FDE4}"/>
              </a:ext>
            </a:extLst>
          </p:cNvPr>
          <p:cNvSpPr/>
          <p:nvPr/>
        </p:nvSpPr>
        <p:spPr>
          <a:xfrm>
            <a:off x="1885950" y="762000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1 User Access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10F8D29-9935-7360-6AAA-59AB7BEC53E6}"/>
              </a:ext>
            </a:extLst>
          </p:cNvPr>
          <p:cNvSpPr/>
          <p:nvPr/>
        </p:nvSpPr>
        <p:spPr>
          <a:xfrm>
            <a:off x="1905000" y="952500"/>
            <a:ext cx="5057775" cy="6667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Web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客户端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Web Portal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4D172BE-9E68-7556-C11D-7801DC2F4437}"/>
              </a:ext>
            </a:extLst>
          </p:cNvPr>
          <p:cNvSpPr/>
          <p:nvPr/>
        </p:nvSpPr>
        <p:spPr>
          <a:xfrm>
            <a:off x="4100513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HTTPS/SSL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66BF07-B9AF-B58E-AA8F-C8F0E69ED610}"/>
              </a:ext>
            </a:extLst>
          </p:cNvPr>
          <p:cNvSpPr/>
          <p:nvPr/>
        </p:nvSpPr>
        <p:spPr>
          <a:xfrm>
            <a:off x="7077075" y="952500"/>
            <a:ext cx="5057775" cy="6667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移动小程序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Mini Program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D89EA6A-1BC0-1DEA-70ED-C531A109B228}"/>
              </a:ext>
            </a:extLst>
          </p:cNvPr>
          <p:cNvSpPr/>
          <p:nvPr/>
        </p:nvSpPr>
        <p:spPr>
          <a:xfrm>
            <a:off x="9272588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OAuth 2.0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FE97D05-C9D7-0DDD-3E23-EB686D8FABE0}"/>
              </a:ext>
            </a:extLst>
          </p:cNvPr>
          <p:cNvSpPr/>
          <p:nvPr/>
        </p:nvSpPr>
        <p:spPr>
          <a:xfrm>
            <a:off x="12249150" y="952500"/>
            <a:ext cx="5057775" cy="6667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Open API
RESTful/gRPC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8C012E3-BD7F-A3DA-12A0-016763DF9A75}"/>
              </a:ext>
            </a:extLst>
          </p:cNvPr>
          <p:cNvSpPr/>
          <p:nvPr/>
        </p:nvSpPr>
        <p:spPr>
          <a:xfrm>
            <a:off x="14444663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JWT Token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8CA48B3-3E33-4584-28F9-CAB83EE9A73B}"/>
              </a:ext>
            </a:extLst>
          </p:cNvPr>
          <p:cNvSpPr/>
          <p:nvPr/>
        </p:nvSpPr>
        <p:spPr>
          <a:xfrm>
            <a:off x="17421225" y="952500"/>
            <a:ext cx="5057775" cy="666750"/>
          </a:xfrm>
          <a:prstGeom prst="roundRect">
            <a:avLst/>
          </a:prstGeom>
          <a:solidFill>
            <a:srgbClr val="D3C0CB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管理后台
</a:t>
            </a:r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Admin Console</a:t>
            </a:r>
            <a:endParaRPr lang="zh-CN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B38EC5E-18D1-16D8-958A-627FC28E0D3F}"/>
              </a:ext>
            </a:extLst>
          </p:cNvPr>
          <p:cNvSpPr/>
          <p:nvPr/>
        </p:nvSpPr>
        <p:spPr>
          <a:xfrm>
            <a:off x="19616738" y="1676400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>
                <a:solidFill>
                  <a:srgbClr val="2D2D2D"/>
                </a:solidFill>
                <a:latin typeface="Arial" panose="020B0604020202020204" pitchFamily="34" charset="0"/>
              </a:rPr>
              <a:t>WS/WSS</a:t>
            </a:r>
            <a:endParaRPr lang="zh-CN" altLang="en-US" sz="9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B6ABB4-41CF-2E96-3398-3C66C422727C}"/>
              </a:ext>
            </a:extLst>
          </p:cNvPr>
          <p:cNvSpPr/>
          <p:nvPr/>
        </p:nvSpPr>
        <p:spPr>
          <a:xfrm>
            <a:off x="1809750" y="2238375"/>
            <a:ext cx="20764500" cy="1381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笑脸 21">
            <a:extLst>
              <a:ext uri="{FF2B5EF4-FFF2-40B4-BE49-F238E27FC236}">
                <a16:creationId xmlns:a16="http://schemas.microsoft.com/office/drawing/2014/main" id="{B81B805A-34A7-0251-8793-DD89237059E7}"/>
              </a:ext>
            </a:extLst>
          </p:cNvPr>
          <p:cNvSpPr/>
          <p:nvPr/>
        </p:nvSpPr>
        <p:spPr>
          <a:xfrm>
            <a:off x="1885950" y="2143125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2 Gateway &amp; Scheduling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E879A06-E4DD-E224-52FB-9EBD901C6E12}"/>
              </a:ext>
            </a:extLst>
          </p:cNvPr>
          <p:cNvSpPr/>
          <p:nvPr/>
        </p:nvSpPr>
        <p:spPr>
          <a:xfrm>
            <a:off x="1905000" y="2333625"/>
            <a:ext cx="5057775" cy="6667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API Gateway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统一接入网关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5D08581-DE0F-414A-3C4F-FBA2B3594704}"/>
              </a:ext>
            </a:extLst>
          </p:cNvPr>
          <p:cNvSpPr/>
          <p:nvPr/>
        </p:nvSpPr>
        <p:spPr>
          <a:xfrm>
            <a:off x="4100513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灰度路由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8877F7D-DE06-9324-947E-B729BB66C095}"/>
              </a:ext>
            </a:extLst>
          </p:cNvPr>
          <p:cNvSpPr/>
          <p:nvPr/>
        </p:nvSpPr>
        <p:spPr>
          <a:xfrm>
            <a:off x="7077075" y="2333625"/>
            <a:ext cx="5057775" cy="6667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Load Balancer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动态负载均衡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1B23FD-8C0D-BAE6-7CA1-A7EA70D5D8D5}"/>
              </a:ext>
            </a:extLst>
          </p:cNvPr>
          <p:cNvSpPr/>
          <p:nvPr/>
        </p:nvSpPr>
        <p:spPr>
          <a:xfrm>
            <a:off x="9272588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熔断降级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C547433-AEAC-F274-AB4E-ACA0C57668DE}"/>
              </a:ext>
            </a:extLst>
          </p:cNvPr>
          <p:cNvSpPr/>
          <p:nvPr/>
        </p:nvSpPr>
        <p:spPr>
          <a:xfrm>
            <a:off x="12249150" y="2333625"/>
            <a:ext cx="5057775" cy="6667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Auth Center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身份鉴权中心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CF2C50-6689-B13C-E1BC-81E8F7509D61}"/>
              </a:ext>
            </a:extLst>
          </p:cNvPr>
          <p:cNvSpPr/>
          <p:nvPr/>
        </p:nvSpPr>
        <p:spPr>
          <a:xfrm>
            <a:off x="14444663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请求鉴权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EC5F313E-05A1-E0B2-EC0F-FBE8359DCA6B}"/>
              </a:ext>
            </a:extLst>
          </p:cNvPr>
          <p:cNvSpPr/>
          <p:nvPr/>
        </p:nvSpPr>
        <p:spPr>
          <a:xfrm>
            <a:off x="17421225" y="2333625"/>
            <a:ext cx="5057775" cy="666750"/>
          </a:xfrm>
          <a:prstGeom prst="roundRect">
            <a:avLst/>
          </a:prstGeom>
          <a:solidFill>
            <a:srgbClr val="A4B7B7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Arial" panose="020B0604020202020204" pitchFamily="34" charset="0"/>
              </a:rPr>
              <a:t>Rate Limiter
</a:t>
            </a:r>
            <a:r>
              <a:rPr lang="zh-CN" altLang="en-US" sz="1200" b="1">
                <a:solidFill>
                  <a:srgbClr val="FFFFFF"/>
                </a:solidFill>
                <a:latin typeface="Arial" panose="020B0604020202020204" pitchFamily="34" charset="0"/>
              </a:rPr>
              <a:t>流量限速器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7A6847D-DBDE-B7ED-8D85-4EA67CD7A9B7}"/>
              </a:ext>
            </a:extLst>
          </p:cNvPr>
          <p:cNvSpPr/>
          <p:nvPr/>
        </p:nvSpPr>
        <p:spPr>
          <a:xfrm>
            <a:off x="19616738" y="3057525"/>
            <a:ext cx="666750" cy="1905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2D2D2D"/>
                </a:solidFill>
                <a:latin typeface="Arial" panose="020B0604020202020204" pitchFamily="34" charset="0"/>
              </a:rPr>
              <a:t>限流控制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837C697-B8A1-65C7-5A59-406932923D38}"/>
              </a:ext>
            </a:extLst>
          </p:cNvPr>
          <p:cNvSpPr/>
          <p:nvPr/>
        </p:nvSpPr>
        <p:spPr>
          <a:xfrm>
            <a:off x="1809750" y="3619500"/>
            <a:ext cx="20764500" cy="147637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笑脸 31">
            <a:extLst>
              <a:ext uri="{FF2B5EF4-FFF2-40B4-BE49-F238E27FC236}">
                <a16:creationId xmlns:a16="http://schemas.microsoft.com/office/drawing/2014/main" id="{50309A1C-3A29-24D3-A8E6-3E5AABAB4C6C}"/>
              </a:ext>
            </a:extLst>
          </p:cNvPr>
          <p:cNvSpPr/>
          <p:nvPr/>
        </p:nvSpPr>
        <p:spPr>
          <a:xfrm>
            <a:off x="1885950" y="3524250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3 Business Application Center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5666129-6CA5-520F-87CA-602B4213A1E8}"/>
              </a:ext>
            </a:extLst>
          </p:cNvPr>
          <p:cNvSpPr/>
          <p:nvPr/>
        </p:nvSpPr>
        <p:spPr>
          <a:xfrm>
            <a:off x="1905000" y="3714750"/>
            <a:ext cx="5057775" cy="523875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智能客服中心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361FCA2B-DBAF-BB38-A959-51DCF46B50D2}"/>
              </a:ext>
            </a:extLst>
          </p:cNvPr>
          <p:cNvSpPr/>
          <p:nvPr/>
        </p:nvSpPr>
        <p:spPr>
          <a:xfrm>
            <a:off x="190500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多轮对话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836B362-8863-23CE-10FF-4DA7A7DB17A5}"/>
              </a:ext>
            </a:extLst>
          </p:cNvPr>
          <p:cNvSpPr/>
          <p:nvPr/>
        </p:nvSpPr>
        <p:spPr>
          <a:xfrm>
            <a:off x="360362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意图识别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6D937BC-5434-9F8E-80EE-E8381357A348}"/>
              </a:ext>
            </a:extLst>
          </p:cNvPr>
          <p:cNvSpPr/>
          <p:nvPr/>
        </p:nvSpPr>
        <p:spPr>
          <a:xfrm>
            <a:off x="530225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情感分析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68A7BCC-110D-2378-C725-403A7C8BCDE9}"/>
              </a:ext>
            </a:extLst>
          </p:cNvPr>
          <p:cNvSpPr/>
          <p:nvPr/>
        </p:nvSpPr>
        <p:spPr>
          <a:xfrm>
            <a:off x="6629400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CE2D8"/>
                </a:solidFill>
                <a:latin typeface="Arial" panose="020B0604020202020204" pitchFamily="34" charset="0"/>
              </a:rPr>
              <a:t>SaaS</a:t>
            </a:r>
            <a:endParaRPr lang="zh-CN" altLang="en-US" sz="800">
              <a:solidFill>
                <a:srgbClr val="DCE2D8"/>
              </a:solidFill>
              <a:latin typeface="Arial" panose="020B0604020202020204" pitchFamily="34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50BD566-A2CB-FAEC-226B-837B7CDC1987}"/>
              </a:ext>
            </a:extLst>
          </p:cNvPr>
          <p:cNvSpPr/>
          <p:nvPr/>
        </p:nvSpPr>
        <p:spPr>
          <a:xfrm>
            <a:off x="7077075" y="3714750"/>
            <a:ext cx="5057775" cy="523875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知识问答中心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24ACDCA-4860-21EA-C44C-769D9AE5CCDC}"/>
              </a:ext>
            </a:extLst>
          </p:cNvPr>
          <p:cNvSpPr/>
          <p:nvPr/>
        </p:nvSpPr>
        <p:spPr>
          <a:xfrm>
            <a:off x="707707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文档解析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9959C4D-4718-ED82-CF20-3C7515E5C060}"/>
              </a:ext>
            </a:extLst>
          </p:cNvPr>
          <p:cNvSpPr/>
          <p:nvPr/>
        </p:nvSpPr>
        <p:spPr>
          <a:xfrm>
            <a:off x="877570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语义检索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324B2B7-C888-01D0-4646-10F72FC82A77}"/>
              </a:ext>
            </a:extLst>
          </p:cNvPr>
          <p:cNvSpPr/>
          <p:nvPr/>
        </p:nvSpPr>
        <p:spPr>
          <a:xfrm>
            <a:off x="1047432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答案生成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3A47E52-17FD-6BC5-FD6A-B38DDE1DC83C}"/>
              </a:ext>
            </a:extLst>
          </p:cNvPr>
          <p:cNvSpPr/>
          <p:nvPr/>
        </p:nvSpPr>
        <p:spPr>
          <a:xfrm>
            <a:off x="1180147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CE2D8"/>
                </a:solidFill>
                <a:latin typeface="Arial" panose="020B0604020202020204" pitchFamily="34" charset="0"/>
              </a:rPr>
              <a:t>PaaS</a:t>
            </a:r>
            <a:endParaRPr lang="zh-CN" altLang="en-US" sz="800">
              <a:solidFill>
                <a:srgbClr val="DCE2D8"/>
              </a:solidFill>
              <a:latin typeface="Arial" panose="020B0604020202020204" pitchFamily="34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E09E305E-622D-2BFD-AA55-A22408175343}"/>
              </a:ext>
            </a:extLst>
          </p:cNvPr>
          <p:cNvSpPr/>
          <p:nvPr/>
        </p:nvSpPr>
        <p:spPr>
          <a:xfrm>
            <a:off x="12249150" y="3714750"/>
            <a:ext cx="5057775" cy="523875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内容生成中心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5AB966E-8B8F-A70B-64DA-22039616C5AB}"/>
              </a:ext>
            </a:extLst>
          </p:cNvPr>
          <p:cNvSpPr/>
          <p:nvPr/>
        </p:nvSpPr>
        <p:spPr>
          <a:xfrm>
            <a:off x="1224915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文案创作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1230AC3-72D6-7EE3-6023-B043FEC1F1E4}"/>
              </a:ext>
            </a:extLst>
          </p:cNvPr>
          <p:cNvSpPr/>
          <p:nvPr/>
        </p:nvSpPr>
        <p:spPr>
          <a:xfrm>
            <a:off x="1394777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代码生成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16FC2D9-0FAA-993E-F804-E101FE06A443}"/>
              </a:ext>
            </a:extLst>
          </p:cNvPr>
          <p:cNvSpPr/>
          <p:nvPr/>
        </p:nvSpPr>
        <p:spPr>
          <a:xfrm>
            <a:off x="1564640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报表生成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FCC1BE5-E850-1800-88C6-E5045BAB3729}"/>
              </a:ext>
            </a:extLst>
          </p:cNvPr>
          <p:cNvSpPr/>
          <p:nvPr/>
        </p:nvSpPr>
        <p:spPr>
          <a:xfrm>
            <a:off x="16973550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CE2D8"/>
                </a:solidFill>
                <a:latin typeface="Arial" panose="020B0604020202020204" pitchFamily="34" charset="0"/>
              </a:rPr>
              <a:t>API</a:t>
            </a:r>
            <a:endParaRPr lang="zh-CN" altLang="en-US" sz="800">
              <a:solidFill>
                <a:srgbClr val="DCE2D8"/>
              </a:solidFill>
              <a:latin typeface="Arial" panose="020B0604020202020204" pitchFamily="34" charset="0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29CBD05-96B2-51BC-090A-49056F4A12FA}"/>
              </a:ext>
            </a:extLst>
          </p:cNvPr>
          <p:cNvSpPr/>
          <p:nvPr/>
        </p:nvSpPr>
        <p:spPr>
          <a:xfrm>
            <a:off x="17421225" y="3714750"/>
            <a:ext cx="5057775" cy="523875"/>
          </a:xfrm>
          <a:prstGeom prst="roundRect">
            <a:avLst/>
          </a:prstGeom>
          <a:solidFill>
            <a:srgbClr val="DCE2D8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300" b="1">
                <a:solidFill>
                  <a:srgbClr val="2D2D2D"/>
                </a:solidFill>
                <a:latin typeface="Arial" panose="020B0604020202020204" pitchFamily="34" charset="0"/>
              </a:rPr>
              <a:t>数据分析中心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40A954C3-AB50-F295-5A1C-08FDD5377AAA}"/>
              </a:ext>
            </a:extLst>
          </p:cNvPr>
          <p:cNvSpPr/>
          <p:nvPr/>
        </p:nvSpPr>
        <p:spPr>
          <a:xfrm>
            <a:off x="1742122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文本挖掘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6CE3F17F-6408-40E0-C893-2A66D3C6333A}"/>
              </a:ext>
            </a:extLst>
          </p:cNvPr>
          <p:cNvSpPr/>
          <p:nvPr/>
        </p:nvSpPr>
        <p:spPr>
          <a:xfrm>
            <a:off x="19119850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趋势预测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C11CFF49-DD96-577D-40FB-73ABEFD156F4}"/>
              </a:ext>
            </a:extLst>
          </p:cNvPr>
          <p:cNvSpPr/>
          <p:nvPr/>
        </p:nvSpPr>
        <p:spPr>
          <a:xfrm>
            <a:off x="20818475" y="4267200"/>
            <a:ext cx="1660525" cy="3048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800">
                <a:solidFill>
                  <a:srgbClr val="2D2D2D"/>
                </a:solidFill>
                <a:latin typeface="Arial" panose="020B0604020202020204" pitchFamily="34" charset="0"/>
              </a:rPr>
              <a:t>可视化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E6A5B7C8-09BD-E62F-4F59-1F30989643DA}"/>
              </a:ext>
            </a:extLst>
          </p:cNvPr>
          <p:cNvSpPr/>
          <p:nvPr/>
        </p:nvSpPr>
        <p:spPr>
          <a:xfrm>
            <a:off x="22145625" y="3657600"/>
            <a:ext cx="333375" cy="133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800">
                <a:solidFill>
                  <a:srgbClr val="DCE2D8"/>
                </a:solidFill>
                <a:latin typeface="Arial" panose="020B0604020202020204" pitchFamily="34" charset="0"/>
              </a:rPr>
              <a:t>BI</a:t>
            </a:r>
            <a:endParaRPr lang="zh-CN" altLang="en-US" sz="800">
              <a:solidFill>
                <a:srgbClr val="DCE2D8"/>
              </a:solidFill>
              <a:latin typeface="Arial" panose="020B0604020202020204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D88F1BC-8A7F-B407-377C-5359281B1EEB}"/>
              </a:ext>
            </a:extLst>
          </p:cNvPr>
          <p:cNvSpPr/>
          <p:nvPr/>
        </p:nvSpPr>
        <p:spPr>
          <a:xfrm>
            <a:off x="1809750" y="5095875"/>
            <a:ext cx="20764500" cy="12382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笑脸 53">
            <a:extLst>
              <a:ext uri="{FF2B5EF4-FFF2-40B4-BE49-F238E27FC236}">
                <a16:creationId xmlns:a16="http://schemas.microsoft.com/office/drawing/2014/main" id="{10EB2A59-D33B-A761-FE2F-8C1AF2E3C7D5}"/>
              </a:ext>
            </a:extLst>
          </p:cNvPr>
          <p:cNvSpPr/>
          <p:nvPr/>
        </p:nvSpPr>
        <p:spPr>
          <a:xfrm>
            <a:off x="1885950" y="5000625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4 Model Engine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9FD2B0A6-33D9-2084-CFF2-2150F8BBA2D1}"/>
              </a:ext>
            </a:extLst>
          </p:cNvPr>
          <p:cNvSpPr/>
          <p:nvPr/>
        </p:nvSpPr>
        <p:spPr>
          <a:xfrm>
            <a:off x="190500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基座大模型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Pre-training &amp; CL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38682F7-23AE-ED96-B10E-4F7D11FAF507}"/>
              </a:ext>
            </a:extLst>
          </p:cNvPr>
          <p:cNvSpPr/>
          <p:nvPr/>
        </p:nvSpPr>
        <p:spPr>
          <a:xfrm>
            <a:off x="535305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领域微调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LoRA / SFT / PT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C215D24-156E-0453-6484-9BDD82F68A61}"/>
              </a:ext>
            </a:extLst>
          </p:cNvPr>
          <p:cNvSpPr/>
          <p:nvPr/>
        </p:nvSpPr>
        <p:spPr>
          <a:xfrm>
            <a:off x="880110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RAG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检索增强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Vector Index / RR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D973FF06-DC6B-4E8B-5A92-9D0F41016C90}"/>
              </a:ext>
            </a:extLst>
          </p:cNvPr>
          <p:cNvSpPr/>
          <p:nvPr/>
        </p:nvSpPr>
        <p:spPr>
          <a:xfrm>
            <a:off x="1224915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推理加速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Quant / Batch / Cache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718ED9BB-D5AE-82EC-913C-F616554ED798}"/>
              </a:ext>
            </a:extLst>
          </p:cNvPr>
          <p:cNvSpPr/>
          <p:nvPr/>
        </p:nvSpPr>
        <p:spPr>
          <a:xfrm>
            <a:off x="1569720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模型评估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Auto-eval / A-B Test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05034FA5-7DD3-0DC2-C032-7C29D7140319}"/>
              </a:ext>
            </a:extLst>
          </p:cNvPr>
          <p:cNvSpPr/>
          <p:nvPr/>
        </p:nvSpPr>
        <p:spPr>
          <a:xfrm>
            <a:off x="19145250" y="5191125"/>
            <a:ext cx="3333750" cy="1047750"/>
          </a:xfrm>
          <a:prstGeom prst="roundRect">
            <a:avLst/>
          </a:prstGeom>
          <a:solidFill>
            <a:srgbClr val="AF9A8E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模型监控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Drift / Degradation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E3521C6-FD6D-6A72-3918-97BF02CCE647}"/>
              </a:ext>
            </a:extLst>
          </p:cNvPr>
          <p:cNvSpPr/>
          <p:nvPr/>
        </p:nvSpPr>
        <p:spPr>
          <a:xfrm>
            <a:off x="1809750" y="6334125"/>
            <a:ext cx="20764500" cy="10477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笑脸 61">
            <a:extLst>
              <a:ext uri="{FF2B5EF4-FFF2-40B4-BE49-F238E27FC236}">
                <a16:creationId xmlns:a16="http://schemas.microsoft.com/office/drawing/2014/main" id="{71C6A94B-AC7C-4C0F-B2C3-CC37B2320EDE}"/>
              </a:ext>
            </a:extLst>
          </p:cNvPr>
          <p:cNvSpPr/>
          <p:nvPr/>
        </p:nvSpPr>
        <p:spPr>
          <a:xfrm>
            <a:off x="1885950" y="6238875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5 Data Resource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B7A0003-AAED-82B5-38CB-7347AF015BAF}"/>
              </a:ext>
            </a:extLst>
          </p:cNvPr>
          <p:cNvSpPr/>
          <p:nvPr/>
        </p:nvSpPr>
        <p:spPr>
          <a:xfrm>
            <a:off x="1905000" y="6429375"/>
            <a:ext cx="5057775" cy="857250"/>
          </a:xfrm>
          <a:prstGeom prst="roundRect">
            <a:avLst/>
          </a:prstGeom>
          <a:solidFill>
            <a:srgbClr val="D7D3E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行业知识库
结构化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非结构化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D9FEBA1D-EAB5-6EC2-DF16-E707971132FC}"/>
              </a:ext>
            </a:extLst>
          </p:cNvPr>
          <p:cNvSpPr/>
          <p:nvPr/>
        </p:nvSpPr>
        <p:spPr>
          <a:xfrm>
            <a:off x="7077075" y="6429375"/>
            <a:ext cx="5057775" cy="857250"/>
          </a:xfrm>
          <a:prstGeom prst="roundRect">
            <a:avLst/>
          </a:prstGeom>
          <a:solidFill>
            <a:srgbClr val="D7D3E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训练数据集
清洗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标注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增强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1A6EB073-AD54-2F95-1436-87E4F85F65C7}"/>
              </a:ext>
            </a:extLst>
          </p:cNvPr>
          <p:cNvSpPr/>
          <p:nvPr/>
        </p:nvSpPr>
        <p:spPr>
          <a:xfrm>
            <a:off x="12249150" y="6429375"/>
            <a:ext cx="5057775" cy="857250"/>
          </a:xfrm>
          <a:prstGeom prst="roundRect">
            <a:avLst/>
          </a:prstGeom>
          <a:solidFill>
            <a:srgbClr val="D7D3E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向量数据库
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Embedding/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相似度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3D191EE-2800-051F-99E5-618280A9B870}"/>
              </a:ext>
            </a:extLst>
          </p:cNvPr>
          <p:cNvSpPr/>
          <p:nvPr/>
        </p:nvSpPr>
        <p:spPr>
          <a:xfrm>
            <a:off x="17421225" y="6429375"/>
            <a:ext cx="5057775" cy="857250"/>
          </a:xfrm>
          <a:prstGeom prst="roundRect">
            <a:avLst/>
          </a:prstGeom>
          <a:solidFill>
            <a:srgbClr val="D7D3EF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数据治理平台
脱敏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合规</a:t>
            </a:r>
            <a:r>
              <a:rPr lang="en-US" altLang="zh-CN" sz="1100" b="1">
                <a:solidFill>
                  <a:srgbClr val="2D2D2D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血缘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D13D8FC-FAE6-9E9D-A172-5C259DD2A6FE}"/>
              </a:ext>
            </a:extLst>
          </p:cNvPr>
          <p:cNvSpPr/>
          <p:nvPr/>
        </p:nvSpPr>
        <p:spPr>
          <a:xfrm>
            <a:off x="1809750" y="7381875"/>
            <a:ext cx="20764500" cy="1000125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笑脸 67">
            <a:extLst>
              <a:ext uri="{FF2B5EF4-FFF2-40B4-BE49-F238E27FC236}">
                <a16:creationId xmlns:a16="http://schemas.microsoft.com/office/drawing/2014/main" id="{9F13A1B8-DFCA-F5D8-B943-965078CD66A5}"/>
              </a:ext>
            </a:extLst>
          </p:cNvPr>
          <p:cNvSpPr/>
          <p:nvPr/>
        </p:nvSpPr>
        <p:spPr>
          <a:xfrm>
            <a:off x="1885950" y="7286625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Layer 6 Infrastructure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35199AF-AA1A-202D-7798-AF57FAF2F64A}"/>
              </a:ext>
            </a:extLst>
          </p:cNvPr>
          <p:cNvSpPr/>
          <p:nvPr/>
        </p:nvSpPr>
        <p:spPr>
          <a:xfrm>
            <a:off x="1905000" y="7477125"/>
            <a:ext cx="4023360" cy="809625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国产化算力
昇腾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/GPU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混合调度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C7347612-761F-58D6-7B6E-B2190DFDB63B}"/>
              </a:ext>
            </a:extLst>
          </p:cNvPr>
          <p:cNvSpPr/>
          <p:nvPr/>
        </p:nvSpPr>
        <p:spPr>
          <a:xfrm>
            <a:off x="6042660" y="7477125"/>
            <a:ext cx="4023360" cy="809625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容器编排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K8s/Docker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弹性伸缩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9E38B03-77D2-561B-0B2E-A5F051BC7568}"/>
              </a:ext>
            </a:extLst>
          </p:cNvPr>
          <p:cNvSpPr/>
          <p:nvPr/>
        </p:nvSpPr>
        <p:spPr>
          <a:xfrm>
            <a:off x="10180320" y="7477125"/>
            <a:ext cx="4023359" cy="809625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安全网关
防火墙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零信任架构</a:t>
            </a: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8958979A-D89D-7EA1-9B88-C76D01C26E86}"/>
              </a:ext>
            </a:extLst>
          </p:cNvPr>
          <p:cNvSpPr/>
          <p:nvPr/>
        </p:nvSpPr>
        <p:spPr>
          <a:xfrm>
            <a:off x="14317980" y="7477125"/>
            <a:ext cx="4023359" cy="809625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监控运维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Prometheus/Grafana</a:t>
            </a:r>
            <a:endParaRPr lang="zh-CN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6FD70205-96C9-E9F4-D23A-2399FCFE6F1D}"/>
              </a:ext>
            </a:extLst>
          </p:cNvPr>
          <p:cNvSpPr/>
          <p:nvPr/>
        </p:nvSpPr>
        <p:spPr>
          <a:xfrm>
            <a:off x="18455639" y="7477125"/>
            <a:ext cx="4023361" cy="809625"/>
          </a:xfrm>
          <a:prstGeom prst="roundRect">
            <a:avLst/>
          </a:prstGeom>
          <a:solidFill>
            <a:srgbClr val="92A3A2"/>
          </a:solidFill>
          <a:ln w="254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网络隔离
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VPC/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子网</a:t>
            </a:r>
            <a:r>
              <a:rPr lang="en-US" altLang="zh-CN" sz="1000" b="1">
                <a:solidFill>
                  <a:srgbClr val="FFFFFF"/>
                </a:solidFill>
                <a:latin typeface="Arial" panose="020B0604020202020204" pitchFamily="34" charset="0"/>
              </a:rPr>
              <a:t>/</a:t>
            </a:r>
            <a:r>
              <a:rPr lang="zh-CN" alt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安全组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C99886E4-4475-EF06-3B00-64A65C331B4B}"/>
              </a:ext>
            </a:extLst>
          </p:cNvPr>
          <p:cNvSpPr/>
          <p:nvPr/>
        </p:nvSpPr>
        <p:spPr>
          <a:xfrm>
            <a:off x="190500" y="3619500"/>
            <a:ext cx="1714500" cy="476250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笑脸 74">
            <a:extLst>
              <a:ext uri="{FF2B5EF4-FFF2-40B4-BE49-F238E27FC236}">
                <a16:creationId xmlns:a16="http://schemas.microsoft.com/office/drawing/2014/main" id="{347D09BF-D4D3-D5E0-2D59-4CBA9FE57563}"/>
              </a:ext>
            </a:extLst>
          </p:cNvPr>
          <p:cNvSpPr/>
          <p:nvPr/>
        </p:nvSpPr>
        <p:spPr>
          <a:xfrm>
            <a:off x="266700" y="3524250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Deployment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05DACA57-5D4D-78D7-17D3-EBB8501CB5B4}"/>
              </a:ext>
            </a:extLst>
          </p:cNvPr>
          <p:cNvSpPr/>
          <p:nvPr/>
        </p:nvSpPr>
        <p:spPr>
          <a:xfrm>
            <a:off x="285750" y="3714750"/>
            <a:ext cx="1524000" cy="1057275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公有云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3EC0DFDA-2241-BEDF-5DCC-024BBF0156BD}"/>
              </a:ext>
            </a:extLst>
          </p:cNvPr>
          <p:cNvCxnSpPr/>
          <p:nvPr/>
        </p:nvCxnSpPr>
        <p:spPr>
          <a:xfrm>
            <a:off x="1809750" y="4243388"/>
            <a:ext cx="0" cy="363855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81E28D59-7F7F-95A9-1F72-CBCB0D390B6D}"/>
              </a:ext>
            </a:extLst>
          </p:cNvPr>
          <p:cNvSpPr/>
          <p:nvPr/>
        </p:nvSpPr>
        <p:spPr>
          <a:xfrm>
            <a:off x="285750" y="4886325"/>
            <a:ext cx="1524000" cy="1057275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私有云</a:t>
            </a:r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AB1AFCBE-54DE-C223-30FB-3E49D33BE521}"/>
              </a:ext>
            </a:extLst>
          </p:cNvPr>
          <p:cNvCxnSpPr/>
          <p:nvPr/>
        </p:nvCxnSpPr>
        <p:spPr>
          <a:xfrm>
            <a:off x="1809750" y="5414963"/>
            <a:ext cx="0" cy="246697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CB5EA7C7-E914-62B8-FF16-87F523CDA645}"/>
              </a:ext>
            </a:extLst>
          </p:cNvPr>
          <p:cNvSpPr/>
          <p:nvPr/>
        </p:nvSpPr>
        <p:spPr>
          <a:xfrm>
            <a:off x="285750" y="6057900"/>
            <a:ext cx="1524000" cy="1057275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混合云</a:t>
            </a: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5C0DDC9D-297B-5140-AB01-DA5CC32FA800}"/>
              </a:ext>
            </a:extLst>
          </p:cNvPr>
          <p:cNvCxnSpPr/>
          <p:nvPr/>
        </p:nvCxnSpPr>
        <p:spPr>
          <a:xfrm>
            <a:off x="1809750" y="6586538"/>
            <a:ext cx="0" cy="12954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FE836C27-FF87-0D32-FFB6-589C43E92FF6}"/>
              </a:ext>
            </a:extLst>
          </p:cNvPr>
          <p:cNvSpPr/>
          <p:nvPr/>
        </p:nvSpPr>
        <p:spPr>
          <a:xfrm>
            <a:off x="285750" y="7229475"/>
            <a:ext cx="1524000" cy="1057275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100" b="1">
                <a:solidFill>
                  <a:srgbClr val="2D2D2D"/>
                </a:solidFill>
                <a:latin typeface="Arial" panose="020B0604020202020204" pitchFamily="34" charset="0"/>
              </a:rPr>
              <a:t>边缘节点</a:t>
            </a: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1D6BA1F6-DD31-D372-8E2C-E5A9133CAB48}"/>
              </a:ext>
            </a:extLst>
          </p:cNvPr>
          <p:cNvCxnSpPr/>
          <p:nvPr/>
        </p:nvCxnSpPr>
        <p:spPr>
          <a:xfrm>
            <a:off x="1809750" y="7758113"/>
            <a:ext cx="0" cy="12382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033F62E5-E4AD-CBCC-BDB8-BCD9C901190D}"/>
              </a:ext>
            </a:extLst>
          </p:cNvPr>
          <p:cNvSpPr/>
          <p:nvPr/>
        </p:nvSpPr>
        <p:spPr>
          <a:xfrm>
            <a:off x="22764750" y="857250"/>
            <a:ext cx="1714500" cy="752475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 cap="sq">
            <a:solidFill>
              <a:srgbClr val="AF9A8E"/>
            </a:solidFill>
            <a:prstDash val="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笑脸 84">
            <a:extLst>
              <a:ext uri="{FF2B5EF4-FFF2-40B4-BE49-F238E27FC236}">
                <a16:creationId xmlns:a16="http://schemas.microsoft.com/office/drawing/2014/main" id="{2652D90A-07F9-B2EA-DB66-E3B8A4DF944A}"/>
              </a:ext>
            </a:extLst>
          </p:cNvPr>
          <p:cNvSpPr/>
          <p:nvPr/>
        </p:nvSpPr>
        <p:spPr>
          <a:xfrm>
            <a:off x="22840950" y="762000"/>
            <a:ext cx="1333500" cy="1524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900" b="1">
                <a:solidFill>
                  <a:srgbClr val="AF9A8E"/>
                </a:solidFill>
                <a:latin typeface="Arial" panose="020B0604020202020204" pitchFamily="34" charset="0"/>
              </a:rPr>
              <a:t>Security &amp; Governance</a:t>
            </a:r>
            <a:endParaRPr lang="zh-CN" altLang="en-US" sz="900" b="1">
              <a:solidFill>
                <a:srgbClr val="AF9A8E"/>
              </a:solidFill>
              <a:latin typeface="Arial" panose="020B0604020202020204" pitchFamily="34" charset="0"/>
            </a:endParaRP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155969DB-4A7A-4E40-8DEE-010A521EA579}"/>
              </a:ext>
            </a:extLst>
          </p:cNvPr>
          <p:cNvSpPr/>
          <p:nvPr/>
        </p:nvSpPr>
        <p:spPr>
          <a:xfrm>
            <a:off x="22860000" y="1143000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实时监控</a:t>
            </a:r>
          </a:p>
        </p:txBody>
      </p: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44CAF487-D1F1-2D67-81D3-18DF1E73903A}"/>
              </a:ext>
            </a:extLst>
          </p:cNvPr>
          <p:cNvCxnSpPr/>
          <p:nvPr/>
        </p:nvCxnSpPr>
        <p:spPr>
          <a:xfrm flipH="1">
            <a:off x="22574250" y="1314450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845F0AF5-BFE5-6B5F-1D72-5359E461629D}"/>
              </a:ext>
            </a:extLst>
          </p:cNvPr>
          <p:cNvSpPr/>
          <p:nvPr/>
        </p:nvSpPr>
        <p:spPr>
          <a:xfrm>
            <a:off x="22860000" y="2524125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合规审计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CE1E0D5-4835-508C-882D-7677642A30AF}"/>
              </a:ext>
            </a:extLst>
          </p:cNvPr>
          <p:cNvCxnSpPr/>
          <p:nvPr/>
        </p:nvCxnSpPr>
        <p:spPr>
          <a:xfrm flipH="1">
            <a:off x="22574250" y="269557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BE850A48-AD76-94CC-5CAD-4949132D5B9E}"/>
              </a:ext>
            </a:extLst>
          </p:cNvPr>
          <p:cNvSpPr/>
          <p:nvPr/>
        </p:nvSpPr>
        <p:spPr>
          <a:xfrm>
            <a:off x="22860000" y="4095750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权限管理</a:t>
            </a: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A08CE56-3E88-6830-7D4D-D8DBAEDD80AD}"/>
              </a:ext>
            </a:extLst>
          </p:cNvPr>
          <p:cNvCxnSpPr/>
          <p:nvPr/>
        </p:nvCxnSpPr>
        <p:spPr>
          <a:xfrm flipH="1">
            <a:off x="22574250" y="4267200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E8A87D24-C3EC-DF85-3F3E-309B72E39BC5}"/>
              </a:ext>
            </a:extLst>
          </p:cNvPr>
          <p:cNvSpPr/>
          <p:nvPr/>
        </p:nvSpPr>
        <p:spPr>
          <a:xfrm>
            <a:off x="22860000" y="5476875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数据加密</a:t>
            </a: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7D100AC-0AE1-72FB-925F-2634425AE9E8}"/>
              </a:ext>
            </a:extLst>
          </p:cNvPr>
          <p:cNvCxnSpPr/>
          <p:nvPr/>
        </p:nvCxnSpPr>
        <p:spPr>
          <a:xfrm flipH="1">
            <a:off x="22574250" y="564832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D4FF48C1-F8D8-A968-D677-027D45865AAE}"/>
              </a:ext>
            </a:extLst>
          </p:cNvPr>
          <p:cNvSpPr/>
          <p:nvPr/>
        </p:nvSpPr>
        <p:spPr>
          <a:xfrm>
            <a:off x="22860000" y="6619875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访问控制</a:t>
            </a: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C8520098-9456-8134-D089-6F3340EB9FE4}"/>
              </a:ext>
            </a:extLst>
          </p:cNvPr>
          <p:cNvCxnSpPr/>
          <p:nvPr/>
        </p:nvCxnSpPr>
        <p:spPr>
          <a:xfrm flipH="1">
            <a:off x="22574250" y="679132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3348C1ED-6FF6-6CE0-D790-72D85C55F7CD}"/>
              </a:ext>
            </a:extLst>
          </p:cNvPr>
          <p:cNvSpPr/>
          <p:nvPr/>
        </p:nvSpPr>
        <p:spPr>
          <a:xfrm>
            <a:off x="22860000" y="7667625"/>
            <a:ext cx="1524000" cy="342900"/>
          </a:xfrm>
          <a:prstGeom prst="roundRect">
            <a:avLst/>
          </a:prstGeom>
          <a:solidFill>
            <a:srgbClr val="DBE4EC"/>
          </a:solidFill>
          <a:ln w="19050">
            <a:solidFill>
              <a:srgbClr val="AF9A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1000" b="1">
                <a:solidFill>
                  <a:srgbClr val="2D2D2D"/>
                </a:solidFill>
                <a:latin typeface="Arial" panose="020B0604020202020204" pitchFamily="34" charset="0"/>
              </a:rPr>
              <a:t>日志溯源</a:t>
            </a: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1C04A3E2-7CA1-66F6-3374-0BA7AD2A53DD}"/>
              </a:ext>
            </a:extLst>
          </p:cNvPr>
          <p:cNvCxnSpPr/>
          <p:nvPr/>
        </p:nvCxnSpPr>
        <p:spPr>
          <a:xfrm flipH="1">
            <a:off x="22574250" y="7839075"/>
            <a:ext cx="190500" cy="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7D73217F-218B-A2F7-74FB-7C8DD002E361}"/>
              </a:ext>
            </a:extLst>
          </p:cNvPr>
          <p:cNvCxnSpPr/>
          <p:nvPr/>
        </p:nvCxnSpPr>
        <p:spPr>
          <a:xfrm>
            <a:off x="12192000" y="1866900"/>
            <a:ext cx="0" cy="4667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8E71DB8-60BE-B946-CF19-C87D0B61AB79}"/>
              </a:ext>
            </a:extLst>
          </p:cNvPr>
          <p:cNvCxnSpPr/>
          <p:nvPr/>
        </p:nvCxnSpPr>
        <p:spPr>
          <a:xfrm>
            <a:off x="12192000" y="3248025"/>
            <a:ext cx="0" cy="4667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BCDFFC62-2DEF-60ED-0347-D5DACD3A18F3}"/>
              </a:ext>
            </a:extLst>
          </p:cNvPr>
          <p:cNvCxnSpPr/>
          <p:nvPr/>
        </p:nvCxnSpPr>
        <p:spPr>
          <a:xfrm>
            <a:off x="12192000" y="4572000"/>
            <a:ext cx="0" cy="619125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4D5CF2DD-625E-629E-E558-2944C74A4FF4}"/>
              </a:ext>
            </a:extLst>
          </p:cNvPr>
          <p:cNvCxnSpPr/>
          <p:nvPr/>
        </p:nvCxnSpPr>
        <p:spPr>
          <a:xfrm>
            <a:off x="12192000" y="6238875"/>
            <a:ext cx="0" cy="190500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8B1517A-4155-97DB-B58C-44F9E20B13B9}"/>
              </a:ext>
            </a:extLst>
          </p:cNvPr>
          <p:cNvCxnSpPr/>
          <p:nvPr/>
        </p:nvCxnSpPr>
        <p:spPr>
          <a:xfrm>
            <a:off x="12192000" y="7286625"/>
            <a:ext cx="0" cy="190500"/>
          </a:xfrm>
          <a:prstGeom prst="straightConnector1">
            <a:avLst/>
          </a:prstGeom>
          <a:ln w="19050">
            <a:solidFill>
              <a:srgbClr val="AF9A8E"/>
            </a:solidFill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E7A37447-DEE0-A1AD-168D-BABEE24FAED9}"/>
              </a:ext>
            </a:extLst>
          </p:cNvPr>
          <p:cNvCxnSpPr/>
          <p:nvPr/>
        </p:nvCxnSpPr>
        <p:spPr>
          <a:xfrm flipV="1">
            <a:off x="13906500" y="7286625"/>
            <a:ext cx="0" cy="1905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36CDD38E-6962-FC09-0DA9-D5C959714DA3}"/>
              </a:ext>
            </a:extLst>
          </p:cNvPr>
          <p:cNvCxnSpPr/>
          <p:nvPr/>
        </p:nvCxnSpPr>
        <p:spPr>
          <a:xfrm flipV="1">
            <a:off x="13906500" y="6238875"/>
            <a:ext cx="0" cy="190500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B00A4642-4484-B991-40E0-7997D3AA5702}"/>
              </a:ext>
            </a:extLst>
          </p:cNvPr>
          <p:cNvCxnSpPr/>
          <p:nvPr/>
        </p:nvCxnSpPr>
        <p:spPr>
          <a:xfrm flipV="1">
            <a:off x="13906500" y="4572000"/>
            <a:ext cx="0" cy="619125"/>
          </a:xfrm>
          <a:prstGeom prst="straightConnector1">
            <a:avLst/>
          </a:prstGeom>
          <a:ln w="19050" cap="sq">
            <a:solidFill>
              <a:srgbClr val="AF9A8E"/>
            </a:solidFill>
            <a:prstDash val="dot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笑脸 105">
            <a:extLst>
              <a:ext uri="{FF2B5EF4-FFF2-40B4-BE49-F238E27FC236}">
                <a16:creationId xmlns:a16="http://schemas.microsoft.com/office/drawing/2014/main" id="{F07EFEF2-2A90-BBD5-7081-ADA90EB7064D}"/>
              </a:ext>
            </a:extLst>
          </p:cNvPr>
          <p:cNvSpPr/>
          <p:nvPr/>
        </p:nvSpPr>
        <p:spPr>
          <a:xfrm>
            <a:off x="13982700" y="4643438"/>
            <a:ext cx="38100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AF9A8E"/>
                </a:solidFill>
                <a:latin typeface="Arial" panose="020B0604020202020204" pitchFamily="34" charset="0"/>
              </a:rPr>
              <a:t>模型
反馈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57A6F853-6790-5089-D9C7-33E69A751DAC}"/>
              </a:ext>
            </a:extLst>
          </p:cNvPr>
          <p:cNvCxnSpPr/>
          <p:nvPr/>
        </p:nvCxnSpPr>
        <p:spPr>
          <a:xfrm flipV="1">
            <a:off x="10477500" y="4572000"/>
            <a:ext cx="0" cy="619125"/>
          </a:xfrm>
          <a:prstGeom prst="straightConnector1">
            <a:avLst/>
          </a:prstGeom>
          <a:ln w="19050">
            <a:solidFill>
              <a:srgbClr val="AF9A8E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笑脸 107">
            <a:extLst>
              <a:ext uri="{FF2B5EF4-FFF2-40B4-BE49-F238E27FC236}">
                <a16:creationId xmlns:a16="http://schemas.microsoft.com/office/drawing/2014/main" id="{AE600955-C863-210A-B8DE-17A9DC6D7196}"/>
              </a:ext>
            </a:extLst>
          </p:cNvPr>
          <p:cNvSpPr/>
          <p:nvPr/>
        </p:nvSpPr>
        <p:spPr>
          <a:xfrm>
            <a:off x="10144125" y="4643438"/>
            <a:ext cx="285750" cy="3810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zh-CN" altLang="en-US" sz="900">
                <a:solidFill>
                  <a:srgbClr val="AF9A8E"/>
                </a:solidFill>
                <a:latin typeface="Arial" panose="020B0604020202020204" pitchFamily="34" charset="0"/>
              </a:rPr>
              <a:t>推理
结果</a:t>
            </a:r>
          </a:p>
        </p:txBody>
      </p:sp>
      <p:sp>
        <p:nvSpPr>
          <p:cNvPr id="109" name="笑脸 108">
            <a:extLst>
              <a:ext uri="{FF2B5EF4-FFF2-40B4-BE49-F238E27FC236}">
                <a16:creationId xmlns:a16="http://schemas.microsoft.com/office/drawing/2014/main" id="{64CB0299-49FC-7EAC-41B0-DE942DAC7118}"/>
              </a:ext>
            </a:extLst>
          </p:cNvPr>
          <p:cNvSpPr/>
          <p:nvPr/>
        </p:nvSpPr>
        <p:spPr>
          <a:xfrm>
            <a:off x="0" y="13449300"/>
            <a:ext cx="24384000" cy="190500"/>
          </a:xfrm>
          <a:prstGeom prst="smileyFace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38100" rIns="38100" bIns="38100" rtlCol="0" anchor="ctr"/>
          <a:lstStyle/>
          <a:p>
            <a:pPr algn="ctr"/>
            <a:r>
              <a:rPr lang="en-US" altLang="zh-CN" sz="1100">
                <a:solidFill>
                  <a:srgbClr val="2D2D2D"/>
                </a:solidFill>
                <a:latin typeface="Arial" panose="020B0604020202020204" pitchFamily="34" charset="0"/>
              </a:rPr>
              <a:t>Figure 1  Overall technical architecture and data flow diagram</a:t>
            </a:r>
            <a:endParaRPr lang="zh-CN" altLang="en-US" sz="1100">
              <a:solidFill>
                <a:srgbClr val="2D2D2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757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Microsoft Office PowerPoint</Application>
  <PresentationFormat>自定义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佳琪 陈</dc:creator>
  <cp:lastModifiedBy>佳琪 陈</cp:lastModifiedBy>
  <cp:revision>1</cp:revision>
  <dcterms:created xsi:type="dcterms:W3CDTF">2026-04-12T06:52:36Z</dcterms:created>
  <dcterms:modified xsi:type="dcterms:W3CDTF">2026-04-12T06:52:36Z</dcterms:modified>
</cp:coreProperties>
</file>