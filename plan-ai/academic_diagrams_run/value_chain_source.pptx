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4384000" cy="13716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2" d="100"/>
          <a:sy n="52" d="100"/>
        </p:scale>
        <p:origin x="834" y="8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4415A-A1A5-BD50-1ACC-703E02F28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BD3F75-F984-7319-2C09-F12A08618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A3FD1B-B3D8-9C7F-E7BA-5C4366DA4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26C2B-4E90-4E31-A185-608A4A84495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D0D97D-4F07-02EC-D943-F7FB88239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F744E5-7B2F-8F10-547D-514729EB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FBF9-F978-406D-BBC8-D587321A1A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801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81072-CD8C-B4FA-02EC-AC2B192D4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A07E75-F69C-65F2-7A61-A76129C4E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71217-570C-0657-30F4-D86FF5A1C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26C2B-4E90-4E31-A185-608A4A84495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A09467-B341-E3CB-C5C7-4B61D6174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8EEE95-6012-3A3B-E783-5E429A55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FBF9-F978-406D-BBC8-D587321A1A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73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43D754-8A02-F41E-A514-9F3BBEA1B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9"/>
            <a:ext cx="21031200" cy="570547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49B0FE-859A-A993-A779-4CA879596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9"/>
            <a:ext cx="21031200" cy="30003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D82E60-3579-0F16-8DB8-6C6BD01E5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26C2B-4E90-4E31-A185-608A4A84495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C0697B-1F17-6527-8C9F-2E6CB2BD2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1556FE-0E2D-D151-6880-86EE25A3A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FBF9-F978-406D-BBC8-D587321A1A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950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A01C62-670A-DC50-B46D-008F1B6D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2238C0-9A0F-CE39-EC31-9A54F3B554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E0D3DA-66F0-8634-CC5F-5E057AD90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0F9FD4-1E13-3D13-E1C3-6967A3CBD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26C2B-4E90-4E31-A185-608A4A84495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B7A1C4-090D-B9E3-ECDB-208676E6A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07D6A8-DED6-3B16-F0CA-1E428A29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FBF9-F978-406D-BBC8-D587321A1A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138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EBA1A-6E9C-3876-7A33-ECEBC411E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3"/>
            <a:ext cx="21031200" cy="26511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24C498-E1C0-D04A-6771-A5DD100E1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A603C8-56FA-0885-51C8-64FE6C3F3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90A8EF8-7D32-10F3-F8CE-41F487BFB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D45D6F-B914-B447-2019-AE7C218C00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9D65BA-A3BE-8163-5468-EFBD9EA50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26C2B-4E90-4E31-A185-608A4A84495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1FB63C-2FB0-D948-EA0A-173E117CB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D85A80-C5C6-04FD-8978-7C90282C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FBF9-F978-406D-BBC8-D587321A1A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06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0BBDEB-F55B-FE77-89F7-E99E82F7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41FBEC-CD1C-883D-4D7F-E7D8EE64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26C2B-4E90-4E31-A185-608A4A84495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A20626-A281-4ADD-0E28-DC61C102E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8C2237-84F2-EC99-CF57-857CA13AF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FBF9-F978-406D-BBC8-D587321A1A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089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B91DA9-DB78-9ABB-52E7-45193618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26C2B-4E90-4E31-A185-608A4A84495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E6F76F-2F92-C448-B133-D6155DBF4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D20995-DA33-6B95-794B-4E6A5CC2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FBF9-F978-406D-BBC8-D587321A1A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706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8B996-1ADA-E9BA-674E-E4A759A05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934B0E-56D4-F5EC-8CC1-97407B58C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7F6D03-2815-0A42-9B0B-30394A64F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B239B4-FC77-0CBE-89F1-2B1F72509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26C2B-4E90-4E31-A185-608A4A84495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0770F1-AC80-6A30-D49B-92D55314E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E39073-BBD5-E319-4404-CD92458ED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FBF9-F978-406D-BBC8-D587321A1A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030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50375-38AA-8B57-C378-CD4CB764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36F619-E1AA-08A3-B0A7-196C30275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7E2AE1-0C11-9BCC-A5B3-70A4DE61A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BA6876-0891-862F-6908-90B331EB8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26C2B-4E90-4E31-A185-608A4A84495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FE0C3B-CF90-7DA4-83F2-4E45993E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4A6251-3321-275D-8F5C-6670B6F3D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FBF9-F978-406D-BBC8-D587321A1A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48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7AB410-3AA4-75C2-F527-0EF87B5B1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6730A1-4CB4-402C-9F88-35D083FFC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CC5625-2868-1A03-5D7B-5001FB27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26C2B-4E90-4E31-A185-608A4A84495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3F44A2-AF59-6AF8-3430-93BE3F330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FD0400-B910-35F3-63B8-F213DF33A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FBF9-F978-406D-BBC8-D587321A1A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471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C1BC402-B211-DA58-3CBB-A6C08521AB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5800FE-2B04-BF26-4067-D98D3D204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9C1FFF-DFD2-190D-345B-7BBE0C98E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26C2B-4E90-4E31-A185-608A4A84495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F14265-A8C8-1DF7-12DA-28F8EC413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A630B9-F5EA-1BF9-6B3C-927D1E7BC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FBF9-F978-406D-BBC8-D587321A1A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659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标题，图表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F8E59-5B8B-82F9-363A-E7D352E9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DC554B41-2C7F-1579-A73D-7ACAC2C3AEBE}"/>
              </a:ext>
            </a:extLst>
          </p:cNvPr>
          <p:cNvSpPr>
            <a:spLocks noGrp="1"/>
          </p:cNvSpPr>
          <p:nvPr>
            <p:ph type="chart" sz="half" idx="1"/>
          </p:nvPr>
        </p:nvSpPr>
        <p:spPr>
          <a:xfrm>
            <a:off x="1676400" y="3651250"/>
            <a:ext cx="10439400" cy="87026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2966C4-9834-420A-73C8-A7BE9EEA1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68200" y="3651250"/>
            <a:ext cx="10439400" cy="8702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82FD1F-4DB1-D5C1-0C7F-29CAD3C97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26C2B-4E90-4E31-A185-608A4A84495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12AD41-87D8-BA33-92BB-FB11DB2C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6F5383-5B44-1B19-6344-6D722EB12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FBF9-F978-406D-BBC8-D587321A1A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873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63B9A1-BA52-3DE8-AAD8-C47936FD6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3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6A67E3-3EA0-01CD-010D-4F4171709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77DCFF-9F12-55E1-86C3-61B8441CD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726C2B-4E90-4E31-A185-608A4A84495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A920E6-2B0B-63DD-EE14-CCA3F6BD5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42207C-0E97-9472-2CD7-FC71D308E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7FBF9-F978-406D-BBC8-D587321A1A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20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568A3D8-B830-D0DC-FF2B-C64935295C1F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EB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5A6089B-5629-C8C8-AC4E-3CAEEF1AE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A7CFE1C6-30DD-110C-59B3-B487B989FB33}"/>
              </a:ext>
            </a:extLst>
          </p:cNvPr>
          <p:cNvSpPr>
            <a:spLocks noGrp="1"/>
          </p:cNvSpPr>
          <p:nvPr>
            <p:ph type="chart" sz="half" idx="1"/>
          </p:nvPr>
        </p:nvSpPr>
        <p:spPr/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0E1556-DADE-046F-C503-EECD5B944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笑脸 5">
            <a:extLst>
              <a:ext uri="{FF2B5EF4-FFF2-40B4-BE49-F238E27FC236}">
                <a16:creationId xmlns:a16="http://schemas.microsoft.com/office/drawing/2014/main" id="{FC5632FE-ABF5-6DCD-9532-79A20F94C1D4}"/>
              </a:ext>
            </a:extLst>
          </p:cNvPr>
          <p:cNvSpPr/>
          <p:nvPr/>
        </p:nvSpPr>
        <p:spPr>
          <a:xfrm>
            <a:off x="0" y="171450"/>
            <a:ext cx="24384000" cy="3810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2800" b="1">
                <a:solidFill>
                  <a:srgbClr val="2D2D2D"/>
                </a:solidFill>
                <a:latin typeface="Arial" panose="020B0604020202020204" pitchFamily="34" charset="0"/>
              </a:rPr>
              <a:t>产业价值链与核心能力分布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28969C1-73B3-5D01-ED4C-166E9FB7A0F0}"/>
              </a:ext>
            </a:extLst>
          </p:cNvPr>
          <p:cNvSpPr/>
          <p:nvPr/>
        </p:nvSpPr>
        <p:spPr>
          <a:xfrm>
            <a:off x="7572375" y="1714500"/>
            <a:ext cx="2095500" cy="857250"/>
          </a:xfrm>
          <a:prstGeom prst="roundRect">
            <a:avLst/>
          </a:prstGeom>
          <a:solidFill>
            <a:srgbClr val="D3C0CB"/>
          </a:solidFill>
          <a:ln w="254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2D2D2D"/>
                </a:solidFill>
                <a:latin typeface="Arial" panose="020B0604020202020204" pitchFamily="34" charset="0"/>
              </a:rPr>
              <a:t>芯片算力</a:t>
            </a:r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E71E4327-6F30-C586-1F92-1EB5C701D750}"/>
              </a:ext>
            </a:extLst>
          </p:cNvPr>
          <p:cNvCxnSpPr/>
          <p:nvPr/>
        </p:nvCxnSpPr>
        <p:spPr>
          <a:xfrm>
            <a:off x="8620125" y="2571750"/>
            <a:ext cx="3571875" cy="476250"/>
          </a:xfrm>
          <a:prstGeom prst="bentConnector3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952B182-0313-912C-2BF5-6A263988213F}"/>
              </a:ext>
            </a:extLst>
          </p:cNvPr>
          <p:cNvSpPr/>
          <p:nvPr/>
        </p:nvSpPr>
        <p:spPr>
          <a:xfrm>
            <a:off x="9953625" y="1714500"/>
            <a:ext cx="2095500" cy="857250"/>
          </a:xfrm>
          <a:prstGeom prst="roundRect">
            <a:avLst/>
          </a:prstGeom>
          <a:solidFill>
            <a:srgbClr val="D3C0CB"/>
          </a:solidFill>
          <a:ln w="254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2D2D2D"/>
                </a:solidFill>
                <a:latin typeface="Arial" panose="020B0604020202020204" pitchFamily="34" charset="0"/>
              </a:rPr>
              <a:t>开源框架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5CD6C9B0-165C-8025-5E4A-243CB4396282}"/>
              </a:ext>
            </a:extLst>
          </p:cNvPr>
          <p:cNvCxnSpPr/>
          <p:nvPr/>
        </p:nvCxnSpPr>
        <p:spPr>
          <a:xfrm>
            <a:off x="11001375" y="2571750"/>
            <a:ext cx="1190625" cy="476250"/>
          </a:xfrm>
          <a:prstGeom prst="bentConnector3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0A69005-275B-90D1-50B7-014FCAA785B5}"/>
              </a:ext>
            </a:extLst>
          </p:cNvPr>
          <p:cNvSpPr/>
          <p:nvPr/>
        </p:nvSpPr>
        <p:spPr>
          <a:xfrm>
            <a:off x="12334875" y="1714500"/>
            <a:ext cx="2095500" cy="857250"/>
          </a:xfrm>
          <a:prstGeom prst="roundRect">
            <a:avLst/>
          </a:prstGeom>
          <a:solidFill>
            <a:srgbClr val="D3C0CB"/>
          </a:solidFill>
          <a:ln w="254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2D2D2D"/>
                </a:solidFill>
                <a:latin typeface="Arial" panose="020B0604020202020204" pitchFamily="34" charset="0"/>
              </a:rPr>
              <a:t>数据服务</a:t>
            </a: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83A4FA67-2545-3A7F-749D-714FD66D1CF9}"/>
              </a:ext>
            </a:extLst>
          </p:cNvPr>
          <p:cNvCxnSpPr/>
          <p:nvPr/>
        </p:nvCxnSpPr>
        <p:spPr>
          <a:xfrm flipH="1">
            <a:off x="12192000" y="2571750"/>
            <a:ext cx="1190625" cy="476250"/>
          </a:xfrm>
          <a:prstGeom prst="bentConnector3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92AFB65-F98F-08A0-45F9-02A1244A1D10}"/>
              </a:ext>
            </a:extLst>
          </p:cNvPr>
          <p:cNvSpPr/>
          <p:nvPr/>
        </p:nvSpPr>
        <p:spPr>
          <a:xfrm>
            <a:off x="14716125" y="1714500"/>
            <a:ext cx="2095500" cy="857250"/>
          </a:xfrm>
          <a:prstGeom prst="roundRect">
            <a:avLst/>
          </a:prstGeom>
          <a:solidFill>
            <a:srgbClr val="D3C0CB"/>
          </a:solidFill>
          <a:ln w="254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2D2D2D"/>
                </a:solidFill>
                <a:latin typeface="Arial" panose="020B0604020202020204" pitchFamily="34" charset="0"/>
              </a:rPr>
              <a:t>云基础设施</a:t>
            </a:r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50E4B4ED-291C-7F40-4DC6-8C3568785EFB}"/>
              </a:ext>
            </a:extLst>
          </p:cNvPr>
          <p:cNvCxnSpPr/>
          <p:nvPr/>
        </p:nvCxnSpPr>
        <p:spPr>
          <a:xfrm flipH="1">
            <a:off x="12192000" y="2571750"/>
            <a:ext cx="3571875" cy="476250"/>
          </a:xfrm>
          <a:prstGeom prst="bentConnector3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0A75866-B04D-AE87-F9B8-F69626289276}"/>
              </a:ext>
            </a:extLst>
          </p:cNvPr>
          <p:cNvSpPr/>
          <p:nvPr/>
        </p:nvSpPr>
        <p:spPr>
          <a:xfrm>
            <a:off x="9334500" y="3048000"/>
            <a:ext cx="5715000" cy="1333500"/>
          </a:xfrm>
          <a:prstGeom prst="roundRect">
            <a:avLst/>
          </a:prstGeom>
          <a:solidFill>
            <a:srgbClr val="AF9A8E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Arial" panose="020B0604020202020204" pitchFamily="34" charset="0"/>
              </a:rPr>
              <a:t>智言大模型服务平台
核心技术整合与价值创造中枢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F2234D8-F972-10D0-AAFC-2D1ECE3B24F8}"/>
              </a:ext>
            </a:extLst>
          </p:cNvPr>
          <p:cNvSpPr/>
          <p:nvPr/>
        </p:nvSpPr>
        <p:spPr>
          <a:xfrm>
            <a:off x="7429500" y="4953000"/>
            <a:ext cx="1676400" cy="857250"/>
          </a:xfrm>
          <a:prstGeom prst="roundRect">
            <a:avLst/>
          </a:prstGeom>
          <a:solidFill>
            <a:srgbClr val="DCE2D8"/>
          </a:solidFill>
          <a:ln w="254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 b="1">
                <a:solidFill>
                  <a:srgbClr val="2D2D2D"/>
                </a:solidFill>
                <a:latin typeface="Arial" panose="020B0604020202020204" pitchFamily="34" charset="0"/>
              </a:rPr>
              <a:t>智能客服</a:t>
            </a:r>
          </a:p>
        </p:txBody>
      </p: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5335936F-EB9E-70C1-6441-7B732BA58318}"/>
              </a:ext>
            </a:extLst>
          </p:cNvPr>
          <p:cNvCxnSpPr/>
          <p:nvPr/>
        </p:nvCxnSpPr>
        <p:spPr>
          <a:xfrm flipV="1">
            <a:off x="8267700" y="4381500"/>
            <a:ext cx="3924300" cy="571500"/>
          </a:xfrm>
          <a:prstGeom prst="bentConnector3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584C114-12D5-F30A-3B1D-26316225B1D2}"/>
              </a:ext>
            </a:extLst>
          </p:cNvPr>
          <p:cNvSpPr/>
          <p:nvPr/>
        </p:nvSpPr>
        <p:spPr>
          <a:xfrm>
            <a:off x="9391650" y="4953000"/>
            <a:ext cx="1676400" cy="857250"/>
          </a:xfrm>
          <a:prstGeom prst="roundRect">
            <a:avLst/>
          </a:prstGeom>
          <a:solidFill>
            <a:srgbClr val="DCE2D8"/>
          </a:solidFill>
          <a:ln w="254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 b="1">
                <a:solidFill>
                  <a:srgbClr val="2D2D2D"/>
                </a:solidFill>
                <a:latin typeface="Arial" panose="020B0604020202020204" pitchFamily="34" charset="0"/>
              </a:rPr>
              <a:t>知识问答</a:t>
            </a: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B28F7151-87A4-2E3F-896C-B805FEBFDC1C}"/>
              </a:ext>
            </a:extLst>
          </p:cNvPr>
          <p:cNvCxnSpPr/>
          <p:nvPr/>
        </p:nvCxnSpPr>
        <p:spPr>
          <a:xfrm flipV="1">
            <a:off x="10229850" y="4381500"/>
            <a:ext cx="1962150" cy="571500"/>
          </a:xfrm>
          <a:prstGeom prst="bentConnector3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185F3AD-2DAF-6D85-158D-69C82B41D596}"/>
              </a:ext>
            </a:extLst>
          </p:cNvPr>
          <p:cNvSpPr/>
          <p:nvPr/>
        </p:nvSpPr>
        <p:spPr>
          <a:xfrm>
            <a:off x="11353800" y="4953000"/>
            <a:ext cx="1676400" cy="857250"/>
          </a:xfrm>
          <a:prstGeom prst="roundRect">
            <a:avLst/>
          </a:prstGeom>
          <a:solidFill>
            <a:srgbClr val="DCE2D8"/>
          </a:solidFill>
          <a:ln w="254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 b="1">
                <a:solidFill>
                  <a:srgbClr val="2D2D2D"/>
                </a:solidFill>
                <a:latin typeface="Arial" panose="020B0604020202020204" pitchFamily="34" charset="0"/>
              </a:rPr>
              <a:t>内容生成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C278410-A6AF-B588-6991-4831DBBD5BC5}"/>
              </a:ext>
            </a:extLst>
          </p:cNvPr>
          <p:cNvCxnSpPr/>
          <p:nvPr/>
        </p:nvCxnSpPr>
        <p:spPr>
          <a:xfrm flipV="1">
            <a:off x="12192000" y="4381500"/>
            <a:ext cx="0" cy="571500"/>
          </a:xfrm>
          <a:prstGeom prst="straightConnector1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05571A4-2C00-D714-44BE-1DA7B8811460}"/>
              </a:ext>
            </a:extLst>
          </p:cNvPr>
          <p:cNvSpPr/>
          <p:nvPr/>
        </p:nvSpPr>
        <p:spPr>
          <a:xfrm>
            <a:off x="13315950" y="4953000"/>
            <a:ext cx="1676400" cy="857250"/>
          </a:xfrm>
          <a:prstGeom prst="roundRect">
            <a:avLst/>
          </a:prstGeom>
          <a:solidFill>
            <a:srgbClr val="DCE2D8"/>
          </a:solidFill>
          <a:ln w="254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 b="1">
                <a:solidFill>
                  <a:srgbClr val="2D2D2D"/>
                </a:solidFill>
                <a:latin typeface="Arial" panose="020B0604020202020204" pitchFamily="34" charset="0"/>
              </a:rPr>
              <a:t>数据分析</a:t>
            </a:r>
          </a:p>
        </p:txBody>
      </p: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17BF831A-8E09-6E59-1DF9-0A4D7DBEB38D}"/>
              </a:ext>
            </a:extLst>
          </p:cNvPr>
          <p:cNvCxnSpPr/>
          <p:nvPr/>
        </p:nvCxnSpPr>
        <p:spPr>
          <a:xfrm flipH="1" flipV="1">
            <a:off x="12192000" y="4381500"/>
            <a:ext cx="1962150" cy="571500"/>
          </a:xfrm>
          <a:prstGeom prst="bentConnector3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232514F-4C6D-66F5-2ED9-EB897EF4BE6B}"/>
              </a:ext>
            </a:extLst>
          </p:cNvPr>
          <p:cNvSpPr/>
          <p:nvPr/>
        </p:nvSpPr>
        <p:spPr>
          <a:xfrm>
            <a:off x="15278100" y="4953000"/>
            <a:ext cx="1676400" cy="857250"/>
          </a:xfrm>
          <a:prstGeom prst="roundRect">
            <a:avLst/>
          </a:prstGeom>
          <a:solidFill>
            <a:srgbClr val="DCE2D8"/>
          </a:solidFill>
          <a:ln w="254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 b="1">
                <a:solidFill>
                  <a:srgbClr val="2D2D2D"/>
                </a:solidFill>
                <a:latin typeface="Arial" panose="020B0604020202020204" pitchFamily="34" charset="0"/>
              </a:rPr>
              <a:t>行业解决方案</a:t>
            </a: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8BF36894-1FA5-EFAF-8C64-8A6C7AB56441}"/>
              </a:ext>
            </a:extLst>
          </p:cNvPr>
          <p:cNvCxnSpPr/>
          <p:nvPr/>
        </p:nvCxnSpPr>
        <p:spPr>
          <a:xfrm flipH="1" flipV="1">
            <a:off x="12192000" y="4381500"/>
            <a:ext cx="3924300" cy="571500"/>
          </a:xfrm>
          <a:prstGeom prst="bentConnector3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10318CF-44F7-EFE0-577F-79C616230C68}"/>
              </a:ext>
            </a:extLst>
          </p:cNvPr>
          <p:cNvSpPr/>
          <p:nvPr/>
        </p:nvSpPr>
        <p:spPr>
          <a:xfrm>
            <a:off x="381000" y="3238500"/>
            <a:ext cx="1333500" cy="952500"/>
          </a:xfrm>
          <a:prstGeom prst="roundRect">
            <a:avLst/>
          </a:prstGeom>
          <a:solidFill>
            <a:srgbClr val="DBE4EC"/>
          </a:solidFill>
          <a:ln w="254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政产学研
协同创新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47EA4BC7-41CB-CF82-B96C-B15589382C2A}"/>
              </a:ext>
            </a:extLst>
          </p:cNvPr>
          <p:cNvCxnSpPr/>
          <p:nvPr/>
        </p:nvCxnSpPr>
        <p:spPr>
          <a:xfrm>
            <a:off x="1714500" y="3714750"/>
            <a:ext cx="7620000" cy="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2329995-8F71-FECC-BB94-018BE26F809D}"/>
              </a:ext>
            </a:extLst>
          </p:cNvPr>
          <p:cNvSpPr/>
          <p:nvPr/>
        </p:nvSpPr>
        <p:spPr>
          <a:xfrm>
            <a:off x="22669500" y="3238500"/>
            <a:ext cx="1333500" cy="952500"/>
          </a:xfrm>
          <a:prstGeom prst="roundRect">
            <a:avLst/>
          </a:prstGeom>
          <a:solidFill>
            <a:srgbClr val="DBE4EC"/>
          </a:solidFill>
          <a:ln w="254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安全合规
质量保障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85630B7-1FB7-6FFC-4431-303C5EC334AB}"/>
              </a:ext>
            </a:extLst>
          </p:cNvPr>
          <p:cNvCxnSpPr/>
          <p:nvPr/>
        </p:nvCxnSpPr>
        <p:spPr>
          <a:xfrm>
            <a:off x="15049500" y="3714750"/>
            <a:ext cx="7620000" cy="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笑脸 29">
            <a:extLst>
              <a:ext uri="{FF2B5EF4-FFF2-40B4-BE49-F238E27FC236}">
                <a16:creationId xmlns:a16="http://schemas.microsoft.com/office/drawing/2014/main" id="{80FBB0F0-D1E0-89AB-5DB5-9A21C15F46EA}"/>
              </a:ext>
            </a:extLst>
          </p:cNvPr>
          <p:cNvSpPr/>
          <p:nvPr/>
        </p:nvSpPr>
        <p:spPr>
          <a:xfrm>
            <a:off x="0" y="13449300"/>
            <a:ext cx="24384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100">
                <a:solidFill>
                  <a:srgbClr val="2D2D2D"/>
                </a:solidFill>
                <a:latin typeface="Arial" panose="020B0604020202020204" pitchFamily="34" charset="0"/>
              </a:rPr>
              <a:t>Figure 5  Industry Value Chain and Core Capability Distribution</a:t>
            </a:r>
            <a:endParaRPr lang="zh-CN" altLang="en-US" sz="11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646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自定义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佳琪 陈</dc:creator>
  <cp:lastModifiedBy>佳琪 陈</cp:lastModifiedBy>
  <cp:revision>1</cp:revision>
  <dcterms:created xsi:type="dcterms:W3CDTF">2026-04-12T06:53:50Z</dcterms:created>
  <dcterms:modified xsi:type="dcterms:W3CDTF">2026-04-12T06:53:50Z</dcterms:modified>
</cp:coreProperties>
</file>