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F9B9F-8269-CD03-1A07-48E351B05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4D3C5B-960B-BA2E-166E-86874C1EC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7E9C5-13E2-B5B0-316F-10F844D4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ED3CA-7E00-BDD2-3CF9-449FD346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588B0-8A00-C1EF-5E28-41E93789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9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20C90-5469-F6CE-3695-0325B2B0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C11EAD-16D3-B7EC-F922-BC25DE46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3E025A-7B90-02E0-CC22-72440BD0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CE4FE-EAB7-EA5E-9C77-E4D1BF6E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3808D8-78D3-1C2A-FD3D-3AF851FC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4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8CF70-6015-28A4-7806-3B760125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26A78D-7771-CA4C-FE5D-05AE9A5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A7A50-51E4-79AD-9B40-1CE96675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71786-C239-4390-C628-E0AAA323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776B3-1F7C-8DA8-8B71-FDA91A0B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56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2973A-BC50-082C-4CA5-675BF4DB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4ED598-7F9E-4569-71E8-93BAFFE51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8D584-4B55-EF79-AE04-033681D8D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AC9F32-AD37-EA60-A611-17B9CAC2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39155-28BD-0AF5-829C-54F677E3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B9191-732C-AF3A-C0AF-29B26025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29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7CEDB-938A-58FF-418A-DC0C4FE4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7D16C6-C961-3B4A-9A55-2F2E1EE9A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3D509A-D725-5A69-E1E8-3EFDB9ACB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968858-E724-C390-EB74-BE375F56E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EA439F-C478-1CA6-23FB-78BB8B01F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AEC3B6-7262-8CA1-933D-02B99E55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0994F5-BF3B-8D3D-B47C-FD5D36DE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259046-E5F7-0F72-C04F-B7B6B317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78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0AC38-4192-7898-224F-CBE023C0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F51E67-7626-52B7-FE97-E05BBA7F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CB161E-86F9-ABD5-C21B-D7C52D63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175231-8587-C160-DC6C-29D453E2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16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7D4C26-0468-9EBF-C705-D3D6DA6C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2ABEAC-653A-98E6-802B-0D437A40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A63E8-B5DA-68BF-A3FE-1A845D2D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0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91B75-615E-D8F8-8399-922558A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FAEAE-CD55-7133-6701-2AEEBA623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28D0F4-6706-0FB2-5680-284E0C595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36687-5B63-42E4-E73F-73CEC48E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5A138C-C38C-F193-4843-5C247281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A25FF0-2644-6E1C-2961-3D9B3C77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19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A8700-1605-8823-557C-626EACF46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200AA3-A033-ACAA-EE44-912C1E597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D9CD7B-7DD7-E2AA-E2BF-B6E0DAB09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EC5BD8-2895-78AC-79FA-216F7EC2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252C8C-F97C-F2E2-819C-1D84DB5E9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E18FE-04BE-DC02-5E7C-0B4CF137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98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FDA53-4A68-6062-FB43-16191DF1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75800B-686C-AABC-994E-74061B2D2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72F56-8D9A-9996-5E66-3646330F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19C25-9502-E04D-AAA6-BC73932D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18DB6-2302-2CE9-B3C1-9CB4B6FF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36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174D75-41A9-E624-E5CC-7CD91934E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E4CE46-BD96-B0DA-13B6-B1FF4513E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DA6C0-B45C-8106-B6C7-0BFBE478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E790E-9176-90E4-0068-2F50B039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C7B7F9-3FF0-AF7B-4955-F804BCA4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67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92D44-7923-5102-CBDB-C4A11A2A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776EDBBC-BD6F-C5F2-7216-763A01E20FD0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C58C70-DCE3-2171-16F7-F4511DEB4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DCF99F-ABB0-C267-B802-49B1E02D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5E1424-23CC-C6E8-A453-63C668F2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1F0AA1-78CB-54C4-363C-1CF118CB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086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E15593-62D4-3247-E209-52F7591E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A3749-FA5E-93C6-9624-0764A863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2ED4E-05C5-2A45-9D31-DC0E19713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D9C80-76C8-4D48-934C-84CAFD3A8E9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8A29BC-1477-0F74-5781-A5E521359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55AFFC-C479-245E-DF89-5789523CB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6CA5B-22F0-45C4-B3D5-FE5155E9B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1BF171F-B32B-0C81-3C62-21876E17084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B8BE99-09DC-8588-4869-9FB697ED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CEDC0BE4-5D70-2553-E98A-47DAF807F988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A1FF9-1517-CC8D-6466-9C41337C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40FABA73-729F-8F1F-68B5-C4397CE59CC2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2800" b="1">
                <a:solidFill>
                  <a:srgbClr val="2D2D2D"/>
                </a:solidFill>
                <a:latin typeface="Arial" panose="020B0604020202020204" pitchFamily="34" charset="0"/>
              </a:rPr>
              <a:t>SWOT </a:t>
            </a:r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战略分析矩阵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09A52E-E563-0A6B-D8F2-11B55D7BF84C}"/>
              </a:ext>
            </a:extLst>
          </p:cNvPr>
          <p:cNvSpPr/>
          <p:nvPr/>
        </p:nvSpPr>
        <p:spPr>
          <a:xfrm>
            <a:off x="1143000" y="1333500"/>
            <a:ext cx="10953750" cy="5810250"/>
          </a:xfrm>
          <a:prstGeom prst="roundRect">
            <a:avLst/>
          </a:prstGeom>
          <a:solidFill>
            <a:srgbClr val="C7D6C1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笑脸 7">
            <a:extLst>
              <a:ext uri="{FF2B5EF4-FFF2-40B4-BE49-F238E27FC236}">
                <a16:creationId xmlns:a16="http://schemas.microsoft.com/office/drawing/2014/main" id="{1B57EFE8-CED4-0FCB-B87C-408CE12EF12E}"/>
              </a:ext>
            </a:extLst>
          </p:cNvPr>
          <p:cNvSpPr/>
          <p:nvPr/>
        </p:nvSpPr>
        <p:spPr>
          <a:xfrm>
            <a:off x="1143000" y="1428750"/>
            <a:ext cx="1095375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000" b="1">
                <a:solidFill>
                  <a:srgbClr val="2D2D2D"/>
                </a:solidFill>
                <a:latin typeface="Arial" panose="020B0604020202020204" pitchFamily="34" charset="0"/>
              </a:rPr>
              <a:t>优势 </a:t>
            </a:r>
            <a:r>
              <a:rPr lang="en-US" altLang="zh-CN" sz="2000" b="1">
                <a:solidFill>
                  <a:srgbClr val="2D2D2D"/>
                </a:solidFill>
                <a:latin typeface="Arial" panose="020B0604020202020204" pitchFamily="34" charset="0"/>
              </a:rPr>
              <a:t>(Strengths)</a:t>
            </a:r>
            <a:endParaRPr lang="zh-CN" altLang="en-US" sz="2000" b="1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3093109-5CF8-95C3-FF74-5B73F3E575C7}"/>
              </a:ext>
            </a:extLst>
          </p:cNvPr>
          <p:cNvSpPr/>
          <p:nvPr/>
        </p:nvSpPr>
        <p:spPr>
          <a:xfrm>
            <a:off x="1285875" y="18097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自主研发的垂直领域模型技术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DFA274C-2317-0D04-3103-6A1935BF6A0B}"/>
              </a:ext>
            </a:extLst>
          </p:cNvPr>
          <p:cNvSpPr/>
          <p:nvPr/>
        </p:nvSpPr>
        <p:spPr>
          <a:xfrm>
            <a:off x="1285875" y="22669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产学研合作资源优势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0CCF766-3C0D-E4EF-BDC0-D34531FE3C9A}"/>
              </a:ext>
            </a:extLst>
          </p:cNvPr>
          <p:cNvSpPr/>
          <p:nvPr/>
        </p:nvSpPr>
        <p:spPr>
          <a:xfrm>
            <a:off x="1285875" y="27241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轻量化部署降低成本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350CBA8-68BA-4BD4-08C1-30403AB4AE3B}"/>
              </a:ext>
            </a:extLst>
          </p:cNvPr>
          <p:cNvSpPr/>
          <p:nvPr/>
        </p:nvSpPr>
        <p:spPr>
          <a:xfrm>
            <a:off x="12287250" y="1333500"/>
            <a:ext cx="10953750" cy="5810250"/>
          </a:xfrm>
          <a:prstGeom prst="roundRect">
            <a:avLst/>
          </a:prstGeom>
          <a:solidFill>
            <a:srgbClr val="CFCFE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笑脸 12">
            <a:extLst>
              <a:ext uri="{FF2B5EF4-FFF2-40B4-BE49-F238E27FC236}">
                <a16:creationId xmlns:a16="http://schemas.microsoft.com/office/drawing/2014/main" id="{7D86F2F6-BF19-0177-7635-8C5C550209EB}"/>
              </a:ext>
            </a:extLst>
          </p:cNvPr>
          <p:cNvSpPr/>
          <p:nvPr/>
        </p:nvSpPr>
        <p:spPr>
          <a:xfrm>
            <a:off x="12287250" y="1428750"/>
            <a:ext cx="1095375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000" b="1">
                <a:solidFill>
                  <a:srgbClr val="2D2D2D"/>
                </a:solidFill>
                <a:latin typeface="Arial" panose="020B0604020202020204" pitchFamily="34" charset="0"/>
              </a:rPr>
              <a:t>劣势 </a:t>
            </a:r>
            <a:r>
              <a:rPr lang="en-US" altLang="zh-CN" sz="2000" b="1">
                <a:solidFill>
                  <a:srgbClr val="2D2D2D"/>
                </a:solidFill>
                <a:latin typeface="Arial" panose="020B0604020202020204" pitchFamily="34" charset="0"/>
              </a:rPr>
              <a:t>(Weaknesses)</a:t>
            </a:r>
            <a:endParaRPr lang="zh-CN" altLang="en-US" sz="2000" b="1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E968843-0494-1B1B-716C-1504E3827988}"/>
              </a:ext>
            </a:extLst>
          </p:cNvPr>
          <p:cNvSpPr/>
          <p:nvPr/>
        </p:nvSpPr>
        <p:spPr>
          <a:xfrm>
            <a:off x="12430125" y="18097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品牌知名度有待提升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88F276-A994-F37C-8000-2453B594AA17}"/>
              </a:ext>
            </a:extLst>
          </p:cNvPr>
          <p:cNvSpPr/>
          <p:nvPr/>
        </p:nvSpPr>
        <p:spPr>
          <a:xfrm>
            <a:off x="12430125" y="22669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高端算力资源受限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A4EE797-479C-EC68-3CA7-C7A578D788A9}"/>
              </a:ext>
            </a:extLst>
          </p:cNvPr>
          <p:cNvSpPr/>
          <p:nvPr/>
        </p:nvSpPr>
        <p:spPr>
          <a:xfrm>
            <a:off x="12430125" y="272415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商业化经验积累不足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D029560-9CB3-7DA9-1939-3A40500BC906}"/>
              </a:ext>
            </a:extLst>
          </p:cNvPr>
          <p:cNvSpPr/>
          <p:nvPr/>
        </p:nvSpPr>
        <p:spPr>
          <a:xfrm>
            <a:off x="1143000" y="7334250"/>
            <a:ext cx="10953750" cy="5810250"/>
          </a:xfrm>
          <a:prstGeom prst="roundRect">
            <a:avLst/>
          </a:prstGeom>
          <a:solidFill>
            <a:srgbClr val="E8D6CF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笑脸 17">
            <a:extLst>
              <a:ext uri="{FF2B5EF4-FFF2-40B4-BE49-F238E27FC236}">
                <a16:creationId xmlns:a16="http://schemas.microsoft.com/office/drawing/2014/main" id="{5BD1AF8E-C903-C7B1-975C-71BC227738B8}"/>
              </a:ext>
            </a:extLst>
          </p:cNvPr>
          <p:cNvSpPr/>
          <p:nvPr/>
        </p:nvSpPr>
        <p:spPr>
          <a:xfrm>
            <a:off x="1143000" y="7429500"/>
            <a:ext cx="1095375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000" b="1">
                <a:solidFill>
                  <a:srgbClr val="2D2D2D"/>
                </a:solidFill>
                <a:latin typeface="Arial" panose="020B0604020202020204" pitchFamily="34" charset="0"/>
              </a:rPr>
              <a:t>机会 </a:t>
            </a:r>
            <a:r>
              <a:rPr lang="en-US" altLang="zh-CN" sz="2000" b="1">
                <a:solidFill>
                  <a:srgbClr val="2D2D2D"/>
                </a:solidFill>
                <a:latin typeface="Arial" panose="020B0604020202020204" pitchFamily="34" charset="0"/>
              </a:rPr>
              <a:t>(Opportunities)</a:t>
            </a:r>
            <a:endParaRPr lang="zh-CN" altLang="en-US" sz="2000" b="1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5E50B9D-9D6A-37C8-2293-E9F3FE85D7C7}"/>
              </a:ext>
            </a:extLst>
          </p:cNvPr>
          <p:cNvSpPr/>
          <p:nvPr/>
        </p:nvSpPr>
        <p:spPr>
          <a:xfrm>
            <a:off x="1285875" y="78105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企业数字化转型需求激增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53E8068-4E56-D869-0946-435B3A0617E8}"/>
              </a:ext>
            </a:extLst>
          </p:cNvPr>
          <p:cNvSpPr/>
          <p:nvPr/>
        </p:nvSpPr>
        <p:spPr>
          <a:xfrm>
            <a:off x="1285875" y="82677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国产大模型政策扶持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42D0087-3D71-01C0-3E31-5B5070A42979}"/>
              </a:ext>
            </a:extLst>
          </p:cNvPr>
          <p:cNvSpPr/>
          <p:nvPr/>
        </p:nvSpPr>
        <p:spPr>
          <a:xfrm>
            <a:off x="1285875" y="87249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行业垂直化应用趋势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5C281DE-4DE7-C6CA-E9AE-9904A02F751D}"/>
              </a:ext>
            </a:extLst>
          </p:cNvPr>
          <p:cNvSpPr/>
          <p:nvPr/>
        </p:nvSpPr>
        <p:spPr>
          <a:xfrm>
            <a:off x="12287250" y="7334250"/>
            <a:ext cx="10953750" cy="5810250"/>
          </a:xfrm>
          <a:prstGeom prst="roundRect">
            <a:avLst/>
          </a:prstGeom>
          <a:solidFill>
            <a:srgbClr val="CFE0E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笑脸 22">
            <a:extLst>
              <a:ext uri="{FF2B5EF4-FFF2-40B4-BE49-F238E27FC236}">
                <a16:creationId xmlns:a16="http://schemas.microsoft.com/office/drawing/2014/main" id="{DF244BF3-D38A-DF6E-4BD3-8FA831422808}"/>
              </a:ext>
            </a:extLst>
          </p:cNvPr>
          <p:cNvSpPr/>
          <p:nvPr/>
        </p:nvSpPr>
        <p:spPr>
          <a:xfrm>
            <a:off x="12287250" y="7429500"/>
            <a:ext cx="1095375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000" b="1">
                <a:solidFill>
                  <a:srgbClr val="2D2D2D"/>
                </a:solidFill>
                <a:latin typeface="Arial" panose="020B0604020202020204" pitchFamily="34" charset="0"/>
              </a:rPr>
              <a:t>威胁 </a:t>
            </a:r>
            <a:r>
              <a:rPr lang="en-US" altLang="zh-CN" sz="2000" b="1">
                <a:solidFill>
                  <a:srgbClr val="2D2D2D"/>
                </a:solidFill>
                <a:latin typeface="Arial" panose="020B0604020202020204" pitchFamily="34" charset="0"/>
              </a:rPr>
              <a:t>(Threats)</a:t>
            </a:r>
            <a:endParaRPr lang="zh-CN" altLang="en-US" sz="2000" b="1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A302BC2-FF1E-8B5F-7B7E-9C7833EAC581}"/>
              </a:ext>
            </a:extLst>
          </p:cNvPr>
          <p:cNvSpPr/>
          <p:nvPr/>
        </p:nvSpPr>
        <p:spPr>
          <a:xfrm>
            <a:off x="12430125" y="78105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头部厂商生态壁垒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D45C9E0-B3F6-F076-BC45-DCF31B1C158A}"/>
              </a:ext>
            </a:extLst>
          </p:cNvPr>
          <p:cNvSpPr/>
          <p:nvPr/>
        </p:nvSpPr>
        <p:spPr>
          <a:xfrm>
            <a:off x="12430125" y="82677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开源模型免费竞争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EC25E0E-6A8B-DEA2-A6C3-4DD7112549FD}"/>
              </a:ext>
            </a:extLst>
          </p:cNvPr>
          <p:cNvSpPr/>
          <p:nvPr/>
        </p:nvSpPr>
        <p:spPr>
          <a:xfrm>
            <a:off x="12430125" y="8724900"/>
            <a:ext cx="10668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>
                <a:solidFill>
                  <a:srgbClr val="2D2D2D"/>
                </a:solidFill>
                <a:latin typeface="Arial" panose="020B0604020202020204" pitchFamily="34" charset="0"/>
              </a:rPr>
              <a:t>数据安全合规要求趋严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2B49A8D-9C17-F7FC-B118-348C7741BD5B}"/>
              </a:ext>
            </a:extLst>
          </p:cNvPr>
          <p:cNvCxnSpPr/>
          <p:nvPr/>
        </p:nvCxnSpPr>
        <p:spPr>
          <a:xfrm>
            <a:off x="12192000" y="1238250"/>
            <a:ext cx="0" cy="11715750"/>
          </a:xfrm>
          <a:prstGeom prst="straightConnector1">
            <a:avLst/>
          </a:prstGeom>
          <a:ln w="25400">
            <a:solidFill>
              <a:srgbClr val="2D2D2D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20CA4EE-90D4-2757-F626-D2CB93548764}"/>
              </a:ext>
            </a:extLst>
          </p:cNvPr>
          <p:cNvCxnSpPr/>
          <p:nvPr/>
        </p:nvCxnSpPr>
        <p:spPr>
          <a:xfrm>
            <a:off x="1047750" y="7143750"/>
            <a:ext cx="22288500" cy="0"/>
          </a:xfrm>
          <a:prstGeom prst="straightConnector1">
            <a:avLst/>
          </a:prstGeom>
          <a:ln w="25400">
            <a:solidFill>
              <a:srgbClr val="2D2D2D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笑脸 28">
            <a:extLst>
              <a:ext uri="{FF2B5EF4-FFF2-40B4-BE49-F238E27FC236}">
                <a16:creationId xmlns:a16="http://schemas.microsoft.com/office/drawing/2014/main" id="{2AA3E8D8-8A35-FB4F-A8BA-17BEE5ACA921}"/>
              </a:ext>
            </a:extLst>
          </p:cNvPr>
          <p:cNvSpPr/>
          <p:nvPr/>
        </p:nvSpPr>
        <p:spPr>
          <a:xfrm>
            <a:off x="11620500" y="857250"/>
            <a:ext cx="114300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400" b="1">
                <a:solidFill>
                  <a:srgbClr val="2D2D2D"/>
                </a:solidFill>
                <a:latin typeface="Arial" panose="020B0604020202020204" pitchFamily="34" charset="0"/>
              </a:rPr>
              <a:t>内部因素</a:t>
            </a:r>
          </a:p>
        </p:txBody>
      </p:sp>
      <p:sp>
        <p:nvSpPr>
          <p:cNvPr id="30" name="笑脸 29">
            <a:extLst>
              <a:ext uri="{FF2B5EF4-FFF2-40B4-BE49-F238E27FC236}">
                <a16:creationId xmlns:a16="http://schemas.microsoft.com/office/drawing/2014/main" id="{E6B39DB8-FA01-0BEA-6F88-43AFC0B7522C}"/>
              </a:ext>
            </a:extLst>
          </p:cNvPr>
          <p:cNvSpPr/>
          <p:nvPr/>
        </p:nvSpPr>
        <p:spPr>
          <a:xfrm>
            <a:off x="190500" y="7000875"/>
            <a:ext cx="857250" cy="2857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400" b="1">
                <a:solidFill>
                  <a:srgbClr val="2D2D2D"/>
                </a:solidFill>
                <a:latin typeface="Arial" panose="020B0604020202020204" pitchFamily="34" charset="0"/>
              </a:rPr>
              <a:t>外部因素</a:t>
            </a:r>
          </a:p>
        </p:txBody>
      </p:sp>
      <p:sp>
        <p:nvSpPr>
          <p:cNvPr id="31" name="笑脸 30">
            <a:extLst>
              <a:ext uri="{FF2B5EF4-FFF2-40B4-BE49-F238E27FC236}">
                <a16:creationId xmlns:a16="http://schemas.microsoft.com/office/drawing/2014/main" id="{80705495-0816-FEB2-C636-67F732E2E5E4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2  SWOT Strategic Analysis Matrix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14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2026-04-12T06:52:00Z</dcterms:created>
  <dcterms:modified xsi:type="dcterms:W3CDTF">2026-04-12T06:52:00Z</dcterms:modified>
</cp:coreProperties>
</file>